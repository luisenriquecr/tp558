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99" r:id="rId3"/>
    <p:sldId id="317" r:id="rId4"/>
    <p:sldId id="383" r:id="rId5"/>
    <p:sldId id="382" r:id="rId6"/>
    <p:sldId id="315" r:id="rId7"/>
    <p:sldId id="391" r:id="rId8"/>
    <p:sldId id="338" r:id="rId9"/>
    <p:sldId id="400" r:id="rId10"/>
    <p:sldId id="402" r:id="rId11"/>
    <p:sldId id="401" r:id="rId12"/>
    <p:sldId id="384" r:id="rId13"/>
    <p:sldId id="378" r:id="rId14"/>
    <p:sldId id="387" r:id="rId15"/>
    <p:sldId id="386" r:id="rId16"/>
    <p:sldId id="388" r:id="rId17"/>
    <p:sldId id="331" r:id="rId18"/>
    <p:sldId id="325" r:id="rId19"/>
    <p:sldId id="397" r:id="rId20"/>
    <p:sldId id="398" r:id="rId21"/>
    <p:sldId id="328" r:id="rId22"/>
    <p:sldId id="340" r:id="rId23"/>
    <p:sldId id="312" r:id="rId24"/>
    <p:sldId id="354" r:id="rId25"/>
    <p:sldId id="365" r:id="rId26"/>
    <p:sldId id="373" r:id="rId27"/>
    <p:sldId id="396" r:id="rId28"/>
    <p:sldId id="395" r:id="rId29"/>
    <p:sldId id="392" r:id="rId30"/>
    <p:sldId id="403" r:id="rId31"/>
    <p:sldId id="393" r:id="rId32"/>
    <p:sldId id="405" r:id="rId33"/>
    <p:sldId id="404" r:id="rId34"/>
    <p:sldId id="364" r:id="rId35"/>
    <p:sldId id="314" r:id="rId36"/>
    <p:sldId id="306" r:id="rId37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BEBE00"/>
    <a:srgbClr val="292929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78824" autoAdjust="0"/>
  </p:normalViewPr>
  <p:slideViewPr>
    <p:cSldViewPr snapToGrid="0">
      <p:cViewPr varScale="1">
        <p:scale>
          <a:sx n="65" d="100"/>
          <a:sy n="65" d="100"/>
        </p:scale>
        <p:origin x="1541" y="4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18/10/2025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D33E3-5E09-E88E-8491-E0CF0F12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7702CD-D3B8-4C86-7992-C34B0A370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D78FC2-9F0F-DC31-DBBA-70653A64B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camada de convolução gera tokens a partir da imagem — isso é o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Convolutional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Token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Esses tokens mantêm a estrutura 2D e capturam informações locais, como bordas e texturas.</a:t>
            </a:r>
            <a:r>
              <a:rPr lang="es-B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seguida, eles passam por uma hierarquia de blocos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aprendem relações mais globais, de forma semelhante ao de camadas numa CNN.</a:t>
            </a:r>
            <a:b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Essa abordagem hierárquica reduz a resolução espacial enquanto aumenta a profundidade semântica, tornando o modelo mais eficiente e mais parecido com redes convolucionais tradicionais — mas com a capacidade de atenção global dos Transformers.</a:t>
            </a:r>
            <a:endParaRPr lang="es-B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7A97C1-DBB9-F41A-1ADC-CEBE5D828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909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B731D-07C1-BABA-78E2-B4688065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57BB5A-27E8-D05E-6A63-90E27AB6B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BB987A-F17E-4804-0033-4F243161B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Incorporação de Tokens Convolucionais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Convolutional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Token 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converte a imagem em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meio de convoluções sobrepostas, o que preserva as relações espaciais locais.</a:t>
            </a:r>
            <a:endParaRPr lang="es-B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seguida, cada estágio aplica vários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Blocos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Convolucionais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 as projeções para Q, K e V utilizam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convoluções separáveis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vez de projeções lineares, adicionando sensibilidade espacial e eficiência.</a:t>
            </a:r>
            <a:r>
              <a:rPr lang="es-B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estágios são organizados de forma hierárquica,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reduzindo a resolução e aumentando a profundidade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 maneira similar a uma CNN.</a:t>
            </a:r>
            <a:endParaRPr lang="es-B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o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classificação resume toda a informação,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o 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MLP Head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(Camada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Multilayer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Perceptron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prediz a classe final. Em conjunto, 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CvT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herda a capacidade das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entender estruturas locais e a dos Transformers de integrar o contexto global, resultando em um modelo mais robusto e eficiente.</a:t>
            </a:r>
            <a:endParaRPr lang="es-B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B96D7B-84C2-FE27-C174-0F359A808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6885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7902-9E79-8C2F-BAE4-7F8F2A4D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1063C4-6B89-F4AB-6398-1AD3CCE00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04A84A8-B6B0-6C6C-169F-3D8DA9F12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BO" b="1" dirty="0" err="1"/>
              <a:t>Convolutional</a:t>
            </a:r>
            <a:r>
              <a:rPr lang="es-BO" b="1" dirty="0"/>
              <a:t> Token </a:t>
            </a:r>
            <a:r>
              <a:rPr lang="es-BO" b="1" dirty="0" err="1"/>
              <a:t>Embedding</a:t>
            </a:r>
            <a:r>
              <a:rPr lang="es-BO" b="1" dirty="0"/>
              <a:t> (CTE)</a:t>
            </a:r>
            <a:endParaRPr lang="es-BO" dirty="0"/>
          </a:p>
          <a:p>
            <a:r>
              <a:rPr lang="es-BO" dirty="0"/>
              <a:t>mismo papel que el “</a:t>
            </a:r>
            <a:r>
              <a:rPr lang="es-BO" dirty="0" err="1"/>
              <a:t>Patch</a:t>
            </a:r>
            <a:r>
              <a:rPr lang="es-BO" dirty="0"/>
              <a:t> </a:t>
            </a:r>
            <a:r>
              <a:rPr lang="es-BO" dirty="0" err="1"/>
              <a:t>Embedding</a:t>
            </a:r>
            <a:r>
              <a:rPr lang="es-BO" dirty="0"/>
              <a:t>” en  </a:t>
            </a:r>
            <a:r>
              <a:rPr lang="es-BO" dirty="0" err="1"/>
              <a:t>ViT</a:t>
            </a:r>
            <a:r>
              <a:rPr lang="es-BO" dirty="0"/>
              <a:t> clásico, </a:t>
            </a:r>
            <a:r>
              <a:rPr lang="es-BO" b="1" dirty="0"/>
              <a:t>pero en lugar de cortar la imagen en cuadraditos fijos, usa una convolución 2D con solapamiento.</a:t>
            </a:r>
          </a:p>
          <a:p>
            <a:r>
              <a:rPr lang="es-BO" b="1" dirty="0"/>
              <a:t>Captura relaciones locales</a:t>
            </a:r>
            <a:r>
              <a:rPr lang="es-BO" dirty="0"/>
              <a:t> entre píxeles cercanos (como una CNN).</a:t>
            </a:r>
          </a:p>
          <a:p>
            <a:r>
              <a:rPr lang="es-BO" b="1" dirty="0"/>
              <a:t>Introduce jerarquía espacial:</a:t>
            </a:r>
            <a:r>
              <a:rPr lang="es-BO" dirty="0"/>
              <a:t> cada </a:t>
            </a:r>
            <a:r>
              <a:rPr lang="es-BO" dirty="0" err="1"/>
              <a:t>Stage</a:t>
            </a:r>
            <a:r>
              <a:rPr lang="es-BO" dirty="0"/>
              <a:t> tiene una resolución menor y más canales (más profundidad semántica).</a:t>
            </a:r>
          </a:p>
          <a:p>
            <a:r>
              <a:rPr lang="es-BO" b="1" dirty="0"/>
              <a:t>Reemplaza los </a:t>
            </a:r>
            <a:r>
              <a:rPr lang="es-BO" b="1" dirty="0" err="1"/>
              <a:t>positional</a:t>
            </a:r>
            <a:r>
              <a:rPr lang="es-BO" b="1" dirty="0"/>
              <a:t> </a:t>
            </a:r>
            <a:r>
              <a:rPr lang="es-BO" b="1" dirty="0" err="1"/>
              <a:t>embeddings</a:t>
            </a:r>
            <a:r>
              <a:rPr lang="es-BO" dirty="0"/>
              <a:t> (ya no hacen falta, porque la posición está implícita en la convolución).</a:t>
            </a:r>
          </a:p>
          <a:p>
            <a:r>
              <a:rPr lang="es-BO" b="1" dirty="0"/>
              <a:t>Reduce el número de tokens</a:t>
            </a:r>
            <a:r>
              <a:rPr lang="es-BO" dirty="0"/>
              <a:t> progresivamente, ahorrando cómputo.</a:t>
            </a:r>
            <a:endParaRPr lang="es-BO" b="1" dirty="0"/>
          </a:p>
          <a:p>
            <a:r>
              <a:rPr lang="es-BO" b="1" dirty="0" err="1"/>
              <a:t>Convolutional</a:t>
            </a:r>
            <a:r>
              <a:rPr lang="es-BO" b="1" dirty="0"/>
              <a:t> </a:t>
            </a:r>
            <a:r>
              <a:rPr lang="es-BO" b="1" dirty="0" err="1"/>
              <a:t>Transformer</a:t>
            </a:r>
            <a:r>
              <a:rPr lang="es-BO" b="1" dirty="0"/>
              <a:t> Block (CTB)</a:t>
            </a:r>
          </a:p>
          <a:p>
            <a:r>
              <a:rPr lang="es-BO" dirty="0"/>
              <a:t>El </a:t>
            </a:r>
            <a:r>
              <a:rPr lang="es-BO" b="1" dirty="0"/>
              <a:t>CTB</a:t>
            </a:r>
            <a:r>
              <a:rPr lang="es-BO" dirty="0"/>
              <a:t> es el bloque </a:t>
            </a:r>
            <a:r>
              <a:rPr lang="es-BO" dirty="0" err="1"/>
              <a:t>Transformer</a:t>
            </a:r>
            <a:r>
              <a:rPr lang="es-BO" dirty="0"/>
              <a:t> </a:t>
            </a:r>
            <a:r>
              <a:rPr lang="es-BO" b="1" dirty="0"/>
              <a:t>modificado</a:t>
            </a:r>
            <a:r>
              <a:rPr lang="es-BO" dirty="0"/>
              <a:t> que viene después del CTE en cada </a:t>
            </a:r>
            <a:r>
              <a:rPr lang="es-BO" dirty="0" err="1"/>
              <a:t>Stage</a:t>
            </a:r>
            <a:r>
              <a:rPr lang="es-BO" dirty="0"/>
              <a:t>.</a:t>
            </a:r>
            <a:br>
              <a:rPr lang="es-BO" dirty="0"/>
            </a:br>
            <a:r>
              <a:rPr lang="es-BO" dirty="0"/>
              <a:t>Es una versión mejorada del </a:t>
            </a:r>
            <a:r>
              <a:rPr lang="es-BO" b="1" dirty="0" err="1"/>
              <a:t>Transformer</a:t>
            </a:r>
            <a:r>
              <a:rPr lang="es-BO" b="1" dirty="0"/>
              <a:t> estándar</a:t>
            </a:r>
            <a:r>
              <a:rPr lang="es-BO" dirty="0"/>
              <a:t> que incorpora </a:t>
            </a:r>
            <a:r>
              <a:rPr lang="es-BO" b="1" dirty="0"/>
              <a:t>convoluciones dentro de la autoatención</a:t>
            </a:r>
            <a:r>
              <a:rPr lang="es-BO" dirty="0"/>
              <a:t>.</a:t>
            </a:r>
          </a:p>
          <a:p>
            <a:r>
              <a:rPr lang="es-BO" dirty="0"/>
              <a:t>Pero en </a:t>
            </a:r>
            <a:r>
              <a:rPr lang="es-BO" dirty="0" err="1"/>
              <a:t>CvT</a:t>
            </a:r>
            <a:r>
              <a:rPr lang="es-BO" dirty="0"/>
              <a:t> se modifica </a:t>
            </a:r>
            <a:r>
              <a:rPr lang="es-BO" b="1" dirty="0"/>
              <a:t>la primera parte (las proyecciones de Q, K y V)</a:t>
            </a:r>
            <a:r>
              <a:rPr lang="es-BO" dirty="0"/>
              <a:t>:</a:t>
            </a:r>
            <a:br>
              <a:rPr lang="es-BO" dirty="0"/>
            </a:br>
            <a:r>
              <a:rPr lang="es-BO" dirty="0"/>
              <a:t>en lugar de usar matrices lineales, se usan </a:t>
            </a:r>
            <a:r>
              <a:rPr lang="es-BO" b="1" dirty="0"/>
              <a:t>convoluciones </a:t>
            </a:r>
            <a:r>
              <a:rPr lang="es-BO" b="1" dirty="0" err="1"/>
              <a:t>depth-wise</a:t>
            </a:r>
            <a:r>
              <a:rPr lang="es-BO" b="1" dirty="0"/>
              <a:t> separables</a:t>
            </a:r>
            <a:r>
              <a:rPr lang="es-BO" dirty="0"/>
              <a:t> (operaciones que respetan la estructura espacial de la imagen).</a:t>
            </a:r>
          </a:p>
          <a:p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B15A73-6A0B-D60F-E4FF-449C0E8A4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92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79EC-2287-3AEC-5D5A-14914B1F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6114CC-B569-E637-8E39-77F5C7D21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F41779-4371-7FD5-9813-7B8897776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</a:t>
            </a:r>
            <a:r>
              <a:rPr lang="pt-BR" b="1" dirty="0"/>
              <a:t>Estágio (</a:t>
            </a:r>
            <a:r>
              <a:rPr lang="pt-BR" b="1" i="1" dirty="0" err="1"/>
              <a:t>Stage</a:t>
            </a:r>
            <a:r>
              <a:rPr lang="pt-BR" b="1" dirty="0"/>
              <a:t>)</a:t>
            </a:r>
            <a:r>
              <a:rPr lang="pt-BR" dirty="0"/>
              <a:t> no </a:t>
            </a:r>
            <a:r>
              <a:rPr lang="pt-BR" dirty="0" err="1"/>
              <a:t>CvT</a:t>
            </a:r>
            <a:r>
              <a:rPr lang="pt-BR" dirty="0"/>
              <a:t> funciona exatamente como um "nível" em uma CNN clássica (como as etapas de uma </a:t>
            </a:r>
            <a:r>
              <a:rPr lang="pt-BR" dirty="0" err="1"/>
              <a:t>ResNet</a:t>
            </a:r>
            <a:r>
              <a:rPr lang="pt-BR" dirty="0"/>
              <a:t>).</a:t>
            </a:r>
            <a:endParaRPr lang="es-BO" dirty="0"/>
          </a:p>
          <a:p>
            <a:r>
              <a:rPr lang="pt-BR" dirty="0"/>
              <a:t>Seu papel é processar a imagem em uma determinada resolução antes de passar para o próximo estágio, que é mais abstrato.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FF6529-F12A-70D1-11C6-968CCC2BD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285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750B-F9B6-0549-CAF8-F7FF4166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7C6F930-108E-9A3C-FB32-E91D4F349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AA0D44-5770-6323-F495-33265F725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BO" dirty="0"/>
              <a:t>La parte derecha de la figura muestra el </a:t>
            </a:r>
            <a:r>
              <a:rPr lang="es-BO" i="1" dirty="0"/>
              <a:t>zoom</a:t>
            </a:r>
            <a:r>
              <a:rPr lang="es-BO" dirty="0"/>
              <a:t> interno de un bloque:</a:t>
            </a:r>
          </a:p>
          <a:p>
            <a:r>
              <a:rPr lang="es-BO" b="1" dirty="0"/>
              <a:t>Entrada (token </a:t>
            </a:r>
            <a:r>
              <a:rPr lang="es-BO" b="1" dirty="0" err="1"/>
              <a:t>map</a:t>
            </a:r>
            <a:r>
              <a:rPr lang="es-BO" b="1" dirty="0"/>
              <a:t> 2D):</a:t>
            </a:r>
            <a:br>
              <a:rPr lang="es-BO" dirty="0"/>
            </a:br>
            <a:r>
              <a:rPr lang="es-BO" dirty="0"/>
              <a:t>Los tokens se reorganizan como un mapa 2D (en lugar de vector plano).</a:t>
            </a:r>
          </a:p>
          <a:p>
            <a:r>
              <a:rPr lang="es-BO" b="1" dirty="0" err="1"/>
              <a:t>Convolutional</a:t>
            </a:r>
            <a:r>
              <a:rPr lang="es-BO" b="1" dirty="0"/>
              <a:t> </a:t>
            </a:r>
            <a:r>
              <a:rPr lang="es-BO" b="1" dirty="0" err="1"/>
              <a:t>Projection</a:t>
            </a:r>
            <a:r>
              <a:rPr lang="es-BO" b="1" dirty="0"/>
              <a:t>:</a:t>
            </a:r>
            <a:br>
              <a:rPr lang="es-BO" dirty="0"/>
            </a:br>
            <a:r>
              <a:rPr lang="es-BO" dirty="0"/>
              <a:t>Se aplican convoluciones </a:t>
            </a:r>
            <a:r>
              <a:rPr lang="es-BO" dirty="0" err="1"/>
              <a:t>depth-wise</a:t>
            </a:r>
            <a:r>
              <a:rPr lang="es-BO" dirty="0"/>
              <a:t> separables sobre este mapa, generando Q, K y V con estructura espacial.</a:t>
            </a:r>
          </a:p>
          <a:p>
            <a:r>
              <a:rPr lang="es-BO" b="1" dirty="0"/>
              <a:t>Multi-Head </a:t>
            </a:r>
            <a:r>
              <a:rPr lang="es-BO" b="1" dirty="0" err="1"/>
              <a:t>Attention</a:t>
            </a:r>
            <a:r>
              <a:rPr lang="es-BO" b="1" dirty="0"/>
              <a:t>:</a:t>
            </a:r>
            <a:br>
              <a:rPr lang="es-BO" dirty="0"/>
            </a:br>
            <a:r>
              <a:rPr lang="es-BO" dirty="0"/>
              <a:t>Calcula la atención entre todos los tokens, pero ya con conocimiento local incorporado.</a:t>
            </a:r>
          </a:p>
          <a:p>
            <a:r>
              <a:rPr lang="es-BO" b="1" dirty="0" err="1"/>
              <a:t>Norm</a:t>
            </a:r>
            <a:r>
              <a:rPr lang="es-BO" b="1" dirty="0"/>
              <a:t> + MLP + Residual:</a:t>
            </a:r>
            <a:br>
              <a:rPr lang="es-BO" dirty="0"/>
            </a:br>
            <a:r>
              <a:rPr lang="es-BO" dirty="0"/>
              <a:t>Igual que en </a:t>
            </a:r>
            <a:r>
              <a:rPr lang="es-BO" dirty="0" err="1"/>
              <a:t>Transformer</a:t>
            </a:r>
            <a:r>
              <a:rPr lang="es-BO" dirty="0"/>
              <a:t> estándar, estabiliza y refina las representaciones.</a:t>
            </a:r>
          </a:p>
          <a:p>
            <a:r>
              <a:rPr lang="es-BO" dirty="0"/>
              <a:t>Este bloque combina </a:t>
            </a:r>
            <a:r>
              <a:rPr lang="es-BO" b="1" dirty="0"/>
              <a:t>atención global + contexto local</a:t>
            </a:r>
            <a:r>
              <a:rPr lang="es-BO" dirty="0"/>
              <a:t>, lo que aumenta la robustez frente a traslaciones, escalas y distorsiones (propiedades típicas de los </a:t>
            </a:r>
            <a:r>
              <a:rPr lang="es-BO" dirty="0" err="1"/>
              <a:t>CNNs</a:t>
            </a:r>
            <a:r>
              <a:rPr lang="es-BO" dirty="0"/>
              <a:t>).</a:t>
            </a:r>
          </a:p>
          <a:p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228334-8666-3A2D-BDAB-0F1541CB9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174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E205-A5BD-C8F0-5430-3A9976CB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20CC69-95B9-7991-3A46-6FCB447F0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28B709-05B4-4F81-6501-DE1F12266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607898-FFDC-4D37-BB37-92EA16B7E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211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974C-1BF3-4F8A-D9C1-2A002E9F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EF8C2D-92BD-DF63-BAED-8E68E531F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EEFE51-8A4B-00E5-2F2A-6F34C36DF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448FCD-D79F-22C5-2F84-902B2CE6C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554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251B-BF13-CFDE-84B1-CEC65B53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E8ED53-497C-B767-846E-5CA02BC3E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9E3976-0F36-697A-3002-ECFFA3261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parte (a) mostra a projeção linear do </a:t>
            </a:r>
            <a:r>
              <a:rPr lang="pt-BR" dirty="0" err="1"/>
              <a:t>ViT</a:t>
            </a:r>
            <a:r>
              <a:rPr lang="pt-BR" dirty="0"/>
              <a:t> original, onde os tokens são projetados diretamente em Q, K e V sem considerar a estrutura espacial local, o que limita a capacidade de capturar correlações locais.</a:t>
            </a:r>
          </a:p>
          <a:p>
            <a:r>
              <a:rPr lang="pt-BR" dirty="0"/>
              <a:t>As </a:t>
            </a:r>
            <a:r>
              <a:rPr lang="pt-BR" b="1" dirty="0"/>
              <a:t>linhas coloridas</a:t>
            </a:r>
            <a:r>
              <a:rPr lang="pt-BR" dirty="0"/>
              <a:t> mostram as conexões entre cada token de entrada e suas projeções Q, K e V.</a:t>
            </a:r>
          </a:p>
          <a:p>
            <a:r>
              <a:rPr lang="pt-BR" dirty="0"/>
              <a:t>Cada token é tratado </a:t>
            </a:r>
            <a:r>
              <a:rPr lang="pt-BR" b="1" dirty="0"/>
              <a:t>de forma independente</a:t>
            </a:r>
            <a:r>
              <a:rPr lang="pt-BR" dirty="0"/>
              <a:t>, sem considerar vizinhança espacial.</a:t>
            </a:r>
          </a:p>
          <a:p>
            <a:r>
              <a:rPr lang="pt-BR" dirty="0"/>
              <a:t>👉 </a:t>
            </a:r>
            <a:r>
              <a:rPr lang="pt-BR" b="1" dirty="0"/>
              <a:t>Limitação:</a:t>
            </a:r>
            <a:r>
              <a:rPr lang="pt-BR" dirty="0"/>
              <a:t> o modelo não entende que tokens próximos pertencem a regiões vizinhas da imagem.</a:t>
            </a:r>
          </a:p>
          <a:p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70CE15-00F2-2260-0E62-F52B1484C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254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2BF5-95E1-7601-7F32-231FF90BD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FBFD66-ED17-DA41-1D21-B493B9094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907EA7-34DB-899B-7C44-1D35616FC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 introduz a projeção convolucional, onde os tokens são </a:t>
            </a:r>
            <a:r>
              <a:rPr lang="pt-BR" dirty="0" err="1"/>
              <a:t>reshapeados</a:t>
            </a:r>
            <a:r>
              <a:rPr lang="pt-BR" dirty="0"/>
              <a:t> em um mapa 2D, </a:t>
            </a:r>
            <a:r>
              <a:rPr lang="pt-BR" dirty="0" err="1"/>
              <a:t>convoluídos</a:t>
            </a:r>
            <a:r>
              <a:rPr lang="pt-BR" dirty="0"/>
              <a:t> com uma janela s x s e stride 1, e achatados, permitindo que o modelo incorpore informações espaciais locais antes da atenção.</a:t>
            </a:r>
          </a:p>
          <a:p>
            <a:r>
              <a:rPr lang="pt-BR" dirty="0"/>
              <a:t>Cada token de saída agora é obtido considerando </a:t>
            </a:r>
            <a:r>
              <a:rPr lang="pt-BR" b="1" dirty="0"/>
              <a:t>um pequeno grupo de tokens vizinhos</a:t>
            </a:r>
            <a:r>
              <a:rPr lang="pt-BR" dirty="0"/>
              <a:t> (a janela convolucional).</a:t>
            </a:r>
          </a:p>
          <a:p>
            <a:r>
              <a:rPr lang="pt-BR" dirty="0"/>
              <a:t>💬 Na figura (b):</a:t>
            </a:r>
          </a:p>
          <a:p>
            <a:r>
              <a:rPr lang="pt-BR" dirty="0"/>
              <a:t>A janela laranja mostra a área local usada pela convolução.</a:t>
            </a:r>
          </a:p>
          <a:p>
            <a:r>
              <a:rPr lang="pt-BR" dirty="0"/>
              <a:t>As projeções convolucionais para Q, K e V são obtidas com </a:t>
            </a:r>
            <a:r>
              <a:rPr lang="pt-BR" i="1" dirty="0"/>
              <a:t>stride = 1</a:t>
            </a:r>
            <a:r>
              <a:rPr lang="pt-BR" dirty="0"/>
              <a:t>, preservando o mesmo tamanho espacial.</a:t>
            </a:r>
          </a:p>
          <a:p>
            <a:r>
              <a:rPr lang="pt-BR" dirty="0"/>
              <a:t>Os mapas resultantes são achatados antes da atenção.</a:t>
            </a:r>
          </a:p>
          <a:p>
            <a:r>
              <a:rPr lang="pt-BR" dirty="0"/>
              <a:t>👉 </a:t>
            </a:r>
            <a:r>
              <a:rPr lang="pt-BR" b="1" dirty="0"/>
              <a:t>Vantagem:</a:t>
            </a:r>
            <a:br>
              <a:rPr lang="pt-BR" dirty="0"/>
            </a:br>
            <a:r>
              <a:rPr lang="pt-BR" dirty="0"/>
              <a:t>Cada token “vê” o seu entorno — o modelo ganha </a:t>
            </a:r>
            <a:r>
              <a:rPr lang="pt-BR" b="1" dirty="0"/>
              <a:t>consciência espacial</a:t>
            </a:r>
            <a:r>
              <a:rPr lang="pt-BR" dirty="0"/>
              <a:t>, algo que o </a:t>
            </a:r>
            <a:r>
              <a:rPr lang="pt-BR" dirty="0" err="1"/>
              <a:t>ViT</a:t>
            </a:r>
            <a:r>
              <a:rPr lang="pt-BR" dirty="0"/>
              <a:t> não tinha.</a:t>
            </a:r>
          </a:p>
          <a:p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2405BF-BF07-B062-3ECE-68CCC3202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725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0050-4654-4627-A0FE-E4CCB046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BBE38A-963E-9128-7123-9B791018E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F645FA-CD25-2A4E-80C2-70A72927F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parte (c), a projeção convolucional espremida (padrão no </a:t>
            </a:r>
            <a:r>
              <a:rPr lang="pt-BR" dirty="0" err="1"/>
              <a:t>CvT</a:t>
            </a:r>
            <a:r>
              <a:rPr lang="pt-BR" dirty="0"/>
              <a:t>), adiciona um stride maior, após a convolução, reduzindo a resolução de K e V e otimizando a eficiência computacional ao manter a captura de contexto local. Essa escolha padrão reflete o equilíbrio entre desempenho e eficiência no </a:t>
            </a:r>
            <a:r>
              <a:rPr lang="pt-BR" dirty="0" err="1"/>
              <a:t>CvT</a:t>
            </a:r>
            <a:r>
              <a:rPr lang="pt-BR" dirty="0"/>
              <a:t>.</a:t>
            </a:r>
          </a:p>
          <a:p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E82E0B-0B2B-E3A1-1CB9-923B24675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581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041A-8306-6951-F854-1B329786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EF60E-F082-B0D9-B55C-CD06E67DF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5C827F-07C7-5FFC-A142-04AC3044F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s-B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Top-1 Error ↓: Porcentaje de errores en la predicción de la clase más probable. Menor es mejor.</a:t>
            </a:r>
          </a:p>
          <a:p>
            <a:pPr lvl="1"/>
            <a:r>
              <a:rPr lang="es-BO" dirty="0"/>
              <a:t>PLCC ↑ (Pearson Linear </a:t>
            </a:r>
            <a:r>
              <a:rPr lang="es-BO" dirty="0" err="1"/>
              <a:t>Correlation</a:t>
            </a:r>
            <a:r>
              <a:rPr lang="es-BO" dirty="0"/>
              <a:t> </a:t>
            </a:r>
            <a:r>
              <a:rPr lang="es-BO" dirty="0" err="1"/>
              <a:t>Coefficient</a:t>
            </a:r>
            <a:r>
              <a:rPr lang="es-BO" dirty="0"/>
              <a:t>): Mide la correlación lineal entre las puntuaciones predichas y las puntuaciones reales. Mayor es mejor.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836F59-F473-555D-B19C-4C74A1F85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28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567C-D76C-32CE-1538-CC749FF9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8A2872-DF55-54FB-BBCD-E99556C1C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9523E7-5D8F-A22B-7198-1AE1A9F2B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78EE45-D8BF-EB25-59AD-E8BCCE00A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588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96B8-0634-AF9A-4E8D-6A9E1955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89B8DC-7F0A-851F-CA00-D1031B418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7B011B-2E9A-0F21-7B3D-CD13A21A6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4AE909-3321-5B49-CBE0-A4F701B38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923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8509B-6843-7400-A7E3-82942D49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3C9363-B086-CD27-F3F6-8F56BEA39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DBBE0A-7D04-75FD-98B9-52CF570E7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C9D87-5BA4-5909-5BA7-63F1DEB90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3091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13891-48B3-BD47-F649-D00E6258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5EC83D-D857-226A-C1A2-C10371705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79214B-B0CB-ED53-25E7-2992B2BC0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58C336-E2E3-D2D2-E739-F64341C6E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418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8050-2C63-1F7A-7C9A-36AC31F1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AFE223-F8A0-15FA-0BF4-397281727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C745C4-B1C9-6210-9160-ED3303A9F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916371-307A-B448-C4E6-6E77F136F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019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192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50F7A-479F-553A-BA65-CAF4799A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BE7069-16F5-0E33-4328-11503F4B5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3B9012-AC0A-F89E-5205-EF10A1044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0432CE-0E7B-6D50-340E-E31960FC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577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F741-A30F-D431-ABF3-42382D41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A0AB04-7336-23B8-3521-7C894F990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C0C9C8-467B-26C3-DACA-033DD2D5A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07D263-B31D-0FA5-ECED-4308BEE51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06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2C35-DA09-C91F-6B72-B0489390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41AB862-BB38-2F18-BE4E-63FEB7E40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946888-FBFD-FDAF-B8BF-8815684E8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BO" dirty="0">
                <a:effectLst/>
              </a:rPr>
              <a:t>1. </a:t>
            </a:r>
            <a:r>
              <a:rPr lang="es-BO" b="1" dirty="0" err="1">
                <a:effectLst/>
              </a:rPr>
              <a:t>Galáxias</a:t>
            </a:r>
            <a:r>
              <a:rPr lang="es-BO" b="1" dirty="0">
                <a:effectLst/>
              </a:rPr>
              <a:t> suaves </a:t>
            </a:r>
            <a:r>
              <a:rPr lang="es-BO" b="1" dirty="0" err="1">
                <a:effectLst/>
              </a:rPr>
              <a:t>intermediárias</a:t>
            </a:r>
            <a:r>
              <a:rPr lang="es-BO" dirty="0">
                <a:effectLst/>
              </a:rPr>
              <a:t> (</a:t>
            </a:r>
            <a:r>
              <a:rPr lang="es-BO" i="1" dirty="0" err="1">
                <a:effectLst/>
              </a:rPr>
              <a:t>In-between</a:t>
            </a:r>
            <a:r>
              <a:rPr lang="es-BO" i="1" dirty="0">
                <a:effectLst/>
              </a:rPr>
              <a:t> </a:t>
            </a:r>
            <a:r>
              <a:rPr lang="es-BO" i="1" dirty="0" err="1">
                <a:effectLst/>
              </a:rPr>
              <a:t>smooth</a:t>
            </a:r>
            <a:r>
              <a:rPr lang="es-BO" dirty="0">
                <a:effectLst/>
              </a:rPr>
              <a:t>)</a:t>
            </a:r>
          </a:p>
          <a:p>
            <a:r>
              <a:rPr lang="es-BO" dirty="0">
                <a:effectLst/>
              </a:rPr>
              <a:t>2. </a:t>
            </a:r>
            <a:r>
              <a:rPr lang="es-BO" b="1" dirty="0" err="1">
                <a:effectLst/>
              </a:rPr>
              <a:t>Galáxias</a:t>
            </a:r>
            <a:r>
              <a:rPr lang="es-BO" b="1" dirty="0">
                <a:effectLst/>
              </a:rPr>
              <a:t> suaves completamente redondas</a:t>
            </a:r>
            <a:r>
              <a:rPr lang="es-BO" dirty="0">
                <a:effectLst/>
              </a:rPr>
              <a:t> (</a:t>
            </a:r>
            <a:r>
              <a:rPr lang="es-BO" i="1" dirty="0" err="1">
                <a:effectLst/>
              </a:rPr>
              <a:t>Completely</a:t>
            </a:r>
            <a:r>
              <a:rPr lang="es-BO" i="1" dirty="0">
                <a:effectLst/>
              </a:rPr>
              <a:t> round </a:t>
            </a:r>
            <a:r>
              <a:rPr lang="es-BO" i="1" dirty="0" err="1">
                <a:effectLst/>
              </a:rPr>
              <a:t>smooth</a:t>
            </a:r>
            <a:r>
              <a:rPr lang="es-BO" dirty="0">
                <a:effectLst/>
              </a:rPr>
              <a:t>)</a:t>
            </a:r>
          </a:p>
          <a:p>
            <a:r>
              <a:rPr lang="es-BO" dirty="0">
                <a:effectLst/>
              </a:rPr>
              <a:t>3. </a:t>
            </a:r>
            <a:r>
              <a:rPr lang="es-BO" b="1" dirty="0" err="1">
                <a:effectLst/>
              </a:rPr>
              <a:t>Galáxias</a:t>
            </a:r>
            <a:r>
              <a:rPr lang="es-BO" b="1" dirty="0">
                <a:effectLst/>
              </a:rPr>
              <a:t> de perfil</a:t>
            </a:r>
            <a:r>
              <a:rPr lang="es-BO" dirty="0">
                <a:effectLst/>
              </a:rPr>
              <a:t> (</a:t>
            </a:r>
            <a:r>
              <a:rPr lang="es-BO" i="1" dirty="0">
                <a:effectLst/>
              </a:rPr>
              <a:t>Edge-</a:t>
            </a:r>
            <a:r>
              <a:rPr lang="es-BO" i="1" dirty="0" err="1">
                <a:effectLst/>
              </a:rPr>
              <a:t>on</a:t>
            </a:r>
            <a:r>
              <a:rPr lang="es-BO" dirty="0">
                <a:effectLst/>
              </a:rPr>
              <a:t>)</a:t>
            </a:r>
          </a:p>
          <a:p>
            <a:r>
              <a:rPr lang="es-BO" dirty="0">
                <a:effectLst/>
              </a:rPr>
              <a:t>4. </a:t>
            </a:r>
            <a:r>
              <a:rPr lang="es-BO" b="1" dirty="0" err="1">
                <a:effectLst/>
              </a:rPr>
              <a:t>Galáxias</a:t>
            </a:r>
            <a:r>
              <a:rPr lang="es-BO" b="1" dirty="0">
                <a:effectLst/>
              </a:rPr>
              <a:t> </a:t>
            </a:r>
            <a:r>
              <a:rPr lang="es-BO" b="1" dirty="0" err="1">
                <a:effectLst/>
              </a:rPr>
              <a:t>espirais</a:t>
            </a:r>
            <a:r>
              <a:rPr lang="es-BO" dirty="0">
                <a:effectLst/>
              </a:rPr>
              <a:t> (</a:t>
            </a:r>
            <a:r>
              <a:rPr lang="es-BO" i="1" dirty="0" err="1">
                <a:effectLst/>
              </a:rPr>
              <a:t>Spiral</a:t>
            </a:r>
            <a:r>
              <a:rPr lang="es-BO" dirty="0">
                <a:effectLst/>
              </a:rPr>
              <a:t>)</a:t>
            </a:r>
          </a:p>
          <a:p>
            <a:r>
              <a:rPr lang="es-BO" dirty="0">
                <a:effectLst/>
              </a:rPr>
              <a:t>5. </a:t>
            </a:r>
            <a:r>
              <a:rPr lang="es-BO" b="1" dirty="0" err="1">
                <a:effectLst/>
              </a:rPr>
              <a:t>Galáxias</a:t>
            </a:r>
            <a:r>
              <a:rPr lang="es-BO" b="1" dirty="0">
                <a:effectLst/>
              </a:rPr>
              <a:t> suaves em forma de charuto</a:t>
            </a:r>
            <a:r>
              <a:rPr lang="es-BO" dirty="0">
                <a:effectLst/>
              </a:rPr>
              <a:t> (</a:t>
            </a:r>
            <a:r>
              <a:rPr lang="es-BO" i="1" dirty="0" err="1">
                <a:effectLst/>
              </a:rPr>
              <a:t>Cigar-shaped</a:t>
            </a:r>
            <a:r>
              <a:rPr lang="es-BO" i="1" dirty="0">
                <a:effectLst/>
              </a:rPr>
              <a:t> </a:t>
            </a:r>
            <a:r>
              <a:rPr lang="es-BO" i="1" dirty="0" err="1">
                <a:effectLst/>
              </a:rPr>
              <a:t>smooth</a:t>
            </a:r>
            <a:r>
              <a:rPr lang="es-BO" dirty="0">
                <a:effectLst/>
              </a:rPr>
              <a:t>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EBBBB1-BEDE-C7D4-6DAD-E3CF20A2C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6142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FC10-84DD-3FFC-6D14-6B6D8143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15CDFC-61DF-C14D-7194-F6ECA4F7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BA03AE-49B2-6BD8-28B1-019A7121B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E83D9E-BC1D-C77A-D898-4CDBE3743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2915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E29EA-B4ED-02EB-8F4A-42FD3283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F9AF02-6C84-0D36-6ED6-53E9FF803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883C81-94D5-2E9A-46E6-152C632AD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D80011-3BD8-A9CB-9138-F8909970B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586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C730-28B9-F5CB-48F6-22BB9F66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76DE84-6E31-5E28-1E52-A585D8E23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0D0B6B-0DE2-20AF-8A16-4624814EA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BEE494-5AC0-6562-B5A6-A097A9054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6500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13EA-2553-B971-A7BA-304E1106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4E57A2-D88F-2C9C-8EC4-BED7702C9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F5C163-7BCB-140D-41A1-4BF1F86AB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7271C8-F2F0-3B67-BDF0-FB21EDDF8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909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0E24-F45D-B0BF-662A-3A4B4454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43E3BC-7F0B-F9E3-62D6-5D01861B9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124C11-A5F7-88CA-7B88-AF6A08D27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B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C86FFD-8325-64E4-DE39-B4982E24E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2118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eoxiaobin/CvT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oxiaobin/CvT" TargetMode="External"/><Relationship Id="rId2" Type="http://schemas.openxmlformats.org/officeDocument/2006/relationships/hyperlink" Target="https://forms.gle/Jzsm8dFZe1fNAJYB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noProof="0" dirty="0"/>
              <a:t>TP558 - Tópicos avançados em Machine Learning:</a:t>
            </a:r>
            <a:br>
              <a:rPr lang="pt-BR" noProof="0" dirty="0"/>
            </a:br>
            <a:r>
              <a:rPr lang="pt-BR" dirty="0" err="1"/>
              <a:t>Convolutional</a:t>
            </a:r>
            <a:r>
              <a:rPr lang="pt-BR" dirty="0"/>
              <a:t> Vision </a:t>
            </a:r>
            <a:r>
              <a:rPr lang="pt-BR" dirty="0" err="1"/>
              <a:t>Transformer</a:t>
            </a:r>
            <a:r>
              <a:rPr lang="pt-BR" dirty="0"/>
              <a:t> (</a:t>
            </a:r>
            <a:r>
              <a:rPr lang="pt-BR" dirty="0" err="1"/>
              <a:t>CvT</a:t>
            </a:r>
            <a:r>
              <a:rPr lang="pt-BR" dirty="0"/>
              <a:t>)</a:t>
            </a:r>
            <a:endParaRPr lang="pt-BR" b="1" i="1" noProof="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LUIS </a:t>
            </a:r>
            <a:r>
              <a:rPr lang="pt-BR" dirty="0"/>
              <a:t>ENRIQUE CARDOZO RAMIREZ</a:t>
            </a:r>
          </a:p>
          <a:p>
            <a:endParaRPr lang="pt-BR" noProof="0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78ED-6A1D-4BB4-CADE-86C20F6B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71009-86B4-25DC-EFB5-00570C29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0E9A28A-4AA1-2166-0372-1C2BF888F7D4}"/>
              </a:ext>
            </a:extLst>
          </p:cNvPr>
          <p:cNvSpPr txBox="1">
            <a:spLocks/>
          </p:cNvSpPr>
          <p:nvPr/>
        </p:nvSpPr>
        <p:spPr>
          <a:xfrm>
            <a:off x="106465" y="3760759"/>
            <a:ext cx="12085535" cy="2628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O Artigo apresenta o </a:t>
            </a:r>
            <a:r>
              <a:rPr lang="pt-BR" dirty="0" err="1"/>
              <a:t>Convolutional</a:t>
            </a:r>
            <a:r>
              <a:rPr lang="pt-BR" dirty="0"/>
              <a:t> </a:t>
            </a:r>
            <a:r>
              <a:rPr lang="pt-BR" dirty="0" err="1"/>
              <a:t>vision</a:t>
            </a:r>
            <a:r>
              <a:rPr lang="pt-BR" dirty="0"/>
              <a:t> </a:t>
            </a:r>
            <a:r>
              <a:rPr lang="pt-BR" dirty="0" err="1"/>
              <a:t>Transformer</a:t>
            </a:r>
            <a:r>
              <a:rPr lang="pt-BR" dirty="0"/>
              <a:t> (</a:t>
            </a:r>
            <a:r>
              <a:rPr lang="pt-BR" dirty="0" err="1"/>
              <a:t>CvT</a:t>
            </a:r>
            <a:r>
              <a:rPr lang="pt-BR" dirty="0"/>
              <a:t>), uma nova arquitetura de rede neural que aprimora o </a:t>
            </a:r>
            <a:r>
              <a:rPr lang="pt-BR" b="1" dirty="0">
                <a:solidFill>
                  <a:schemeClr val="accent6"/>
                </a:solidFill>
              </a:rPr>
              <a:t>Vision </a:t>
            </a:r>
            <a:r>
              <a:rPr lang="pt-BR" b="1" dirty="0" err="1">
                <a:solidFill>
                  <a:schemeClr val="accent6"/>
                </a:solidFill>
              </a:rPr>
              <a:t>Transformer</a:t>
            </a:r>
            <a:r>
              <a:rPr lang="pt-BR" b="1" dirty="0">
                <a:solidFill>
                  <a:schemeClr val="accent6"/>
                </a:solidFill>
              </a:rPr>
              <a:t> (</a:t>
            </a:r>
            <a:r>
              <a:rPr lang="pt-BR" b="1" dirty="0" err="1">
                <a:solidFill>
                  <a:schemeClr val="accent6"/>
                </a:solidFill>
              </a:rPr>
              <a:t>ViT</a:t>
            </a:r>
            <a:r>
              <a:rPr lang="pt-BR" b="1" dirty="0">
                <a:solidFill>
                  <a:schemeClr val="accent6"/>
                </a:solidFill>
              </a:rPr>
              <a:t>) </a:t>
            </a:r>
            <a:r>
              <a:rPr lang="pt-BR" dirty="0"/>
              <a:t>ao integrar estrategicamente operações de convolução para aumentar o desempenho e a eficiência. Essa integração permite que o </a:t>
            </a:r>
            <a:r>
              <a:rPr lang="pt-BR" dirty="0" err="1"/>
              <a:t>CvT</a:t>
            </a:r>
            <a:r>
              <a:rPr lang="pt-BR" dirty="0"/>
              <a:t> herde características das </a:t>
            </a:r>
            <a:r>
              <a:rPr lang="pt-BR" b="1" dirty="0">
                <a:solidFill>
                  <a:schemeClr val="accent4"/>
                </a:solidFill>
              </a:rPr>
              <a:t>Redes Neurais Convolucionais (</a:t>
            </a:r>
            <a:r>
              <a:rPr lang="pt-BR" b="1" dirty="0" err="1">
                <a:solidFill>
                  <a:schemeClr val="accent4"/>
                </a:solidFill>
              </a:rPr>
              <a:t>CNNs</a:t>
            </a:r>
            <a:r>
              <a:rPr lang="pt-BR" b="1" dirty="0">
                <a:solidFill>
                  <a:schemeClr val="accent4"/>
                </a:solidFill>
              </a:rPr>
              <a:t>)</a:t>
            </a:r>
            <a:r>
              <a:rPr lang="pt-BR" dirty="0"/>
              <a:t>, como invariância à translação e escala, e ao mesmo tempo mantenha a atenção dinâmica dos Transformers.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E785499-F122-96E7-F1C6-39EF376CD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9431"/>
            <a:ext cx="12192000" cy="222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975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2404-4D86-D3EE-EA17-AE0948FA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E9817-D9B3-5B52-97F2-5CB44750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EF1609-C81E-763B-ABB3-E5BC0B0FE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" y="1869374"/>
            <a:ext cx="10728112" cy="47228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b="1" dirty="0"/>
              <a:t>Transformers:</a:t>
            </a:r>
            <a:r>
              <a:rPr lang="pt-BR" dirty="0"/>
              <a:t> Originalmente dominantes em Processamento de Linguagem Natural (PNL).</a:t>
            </a:r>
          </a:p>
          <a:p>
            <a:pPr lvl="1"/>
            <a:r>
              <a:rPr lang="pt-BR" dirty="0"/>
              <a:t>Conhecidos por capturar dependências de longo alcance e contexto global.</a:t>
            </a:r>
          </a:p>
          <a:p>
            <a:r>
              <a:rPr lang="pt-BR" b="1" dirty="0"/>
              <a:t>Vision </a:t>
            </a:r>
            <a:r>
              <a:rPr lang="pt-BR" b="1" dirty="0" err="1"/>
              <a:t>Transformer</a:t>
            </a:r>
            <a:r>
              <a:rPr lang="pt-BR" b="1" dirty="0"/>
              <a:t> (</a:t>
            </a:r>
            <a:r>
              <a:rPr lang="pt-BR" b="1" dirty="0" err="1"/>
              <a:t>ViT</a:t>
            </a:r>
            <a:r>
              <a:rPr lang="pt-BR" b="1" dirty="0"/>
              <a:t>):</a:t>
            </a:r>
            <a:r>
              <a:rPr lang="pt-BR" dirty="0"/>
              <a:t> O primeiro a aplicar exclusivamente a arquitetura </a:t>
            </a:r>
            <a:r>
              <a:rPr lang="pt-BR" dirty="0" err="1"/>
              <a:t>Transformer</a:t>
            </a:r>
            <a:r>
              <a:rPr lang="pt-BR" dirty="0"/>
              <a:t> para classificação de </a:t>
            </a:r>
            <a:r>
              <a:rPr lang="pt-BR" b="1" dirty="0">
                <a:solidFill>
                  <a:srgbClr val="7030A0"/>
                </a:solidFill>
              </a:rPr>
              <a:t>imagens em larga escala</a:t>
            </a:r>
            <a:r>
              <a:rPr lang="pt-BR" dirty="0"/>
              <a:t>, alcançando desempenho competitivo.</a:t>
            </a:r>
          </a:p>
          <a:p>
            <a:pPr lvl="1"/>
            <a:r>
              <a:rPr lang="pt-BR" b="1" dirty="0"/>
              <a:t>Como funciona:</a:t>
            </a:r>
            <a:r>
              <a:rPr lang="pt-BR" dirty="0"/>
              <a:t> Decompõe uma imagem em sequências de "patches" (tokens) não sobrepostos de tamanho fixo, que são então processados por </a:t>
            </a:r>
            <a:r>
              <a:rPr lang="pt-BR" b="1" dirty="0">
                <a:solidFill>
                  <a:schemeClr val="accent2"/>
                </a:solidFill>
              </a:rPr>
              <a:t>camadas </a:t>
            </a:r>
            <a:r>
              <a:rPr lang="pt-BR" b="1" dirty="0" err="1">
                <a:solidFill>
                  <a:schemeClr val="accent2"/>
                </a:solidFill>
              </a:rPr>
              <a:t>Transformer</a:t>
            </a:r>
            <a:r>
              <a:rPr lang="pt-BR" b="1" dirty="0">
                <a:solidFill>
                  <a:schemeClr val="accent2"/>
                </a:solidFill>
              </a:rPr>
              <a:t> com módulos de </a:t>
            </a:r>
            <a:r>
              <a:rPr lang="pt-BR" b="1" dirty="0" err="1">
                <a:solidFill>
                  <a:schemeClr val="accent2"/>
                </a:solidFill>
              </a:rPr>
              <a:t>autoatenção</a:t>
            </a:r>
            <a:r>
              <a:rPr lang="pt-BR" b="1" dirty="0">
                <a:solidFill>
                  <a:schemeClr val="accent2"/>
                </a:solidFill>
              </a:rPr>
              <a:t> </a:t>
            </a:r>
            <a:r>
              <a:rPr lang="pt-BR" b="1" dirty="0" err="1">
                <a:solidFill>
                  <a:schemeClr val="accent2"/>
                </a:solidFill>
              </a:rPr>
              <a:t>multi-cabeça</a:t>
            </a:r>
            <a:r>
              <a:rPr lang="pt-BR" dirty="0"/>
              <a:t> (MHSA) e redes feed-</a:t>
            </a:r>
            <a:r>
              <a:rPr lang="pt-BR" dirty="0" err="1"/>
              <a:t>forward</a:t>
            </a:r>
            <a:r>
              <a:rPr lang="pt-BR" dirty="0"/>
              <a:t> (FFN).</a:t>
            </a:r>
          </a:p>
          <a:p>
            <a:pPr marL="0" indent="0">
              <a:buNone/>
            </a:pPr>
            <a:endParaRPr lang="pt-BR" noProof="0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B577929-6679-307E-17DF-239AC48FE745}"/>
              </a:ext>
            </a:extLst>
          </p:cNvPr>
          <p:cNvSpPr txBox="1">
            <a:spLocks/>
          </p:cNvSpPr>
          <p:nvPr/>
        </p:nvSpPr>
        <p:spPr>
          <a:xfrm>
            <a:off x="0" y="900600"/>
            <a:ext cx="12085535" cy="96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accent6"/>
                </a:solidFill>
              </a:rPr>
              <a:t>O Cenário dos Transformers em Visão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325110914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075D-E70D-BE5F-9050-76FC14A0B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1DE36-AEE1-EE2A-BFA4-790AD87FB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E7E54B-AAFE-EFD7-47D1-D3496BAAD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" y="1869374"/>
            <a:ext cx="11979070" cy="498862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noProof="0" dirty="0"/>
              <a:t>Redes Convolucionais (</a:t>
            </a:r>
            <a:r>
              <a:rPr lang="pt-BR" noProof="0" dirty="0" err="1"/>
              <a:t>CNNs</a:t>
            </a:r>
            <a:r>
              <a:rPr lang="pt-BR" noProof="0" dirty="0"/>
              <a:t>): Arquiteturas dominantes em visão por computador que se destacam na captura de estruturas locais.</a:t>
            </a:r>
          </a:p>
          <a:p>
            <a:r>
              <a:rPr lang="pt-BR" noProof="0" dirty="0"/>
              <a:t>Propriedades-chave: Forçam a captura de estruturas locais usando campos receptivos locais, </a:t>
            </a:r>
            <a:r>
              <a:rPr lang="pt-BR" b="1" noProof="0" dirty="0">
                <a:solidFill>
                  <a:schemeClr val="accent6"/>
                </a:solidFill>
              </a:rPr>
              <a:t>pesos compartilhados e </a:t>
            </a:r>
            <a:r>
              <a:rPr lang="pt-BR" b="1" noProof="0" dirty="0" err="1">
                <a:solidFill>
                  <a:schemeClr val="accent6"/>
                </a:solidFill>
              </a:rPr>
              <a:t>subamostragem</a:t>
            </a:r>
            <a:r>
              <a:rPr lang="pt-BR" b="1" noProof="0" dirty="0">
                <a:solidFill>
                  <a:schemeClr val="accent6"/>
                </a:solidFill>
              </a:rPr>
              <a:t> espacial</a:t>
            </a:r>
            <a:r>
              <a:rPr lang="pt-BR" noProof="0" dirty="0"/>
              <a:t>, o que resulta em invariância a translação, escala e distorção.</a:t>
            </a:r>
          </a:p>
          <a:p>
            <a:r>
              <a:rPr lang="pt-BR" noProof="0" dirty="0"/>
              <a:t>Hierarquia: Aprendem padrões visuais hierarquicamente, de arestas simples a padrões semânticos complexos.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64AACFF-BA3E-F94B-4EE6-9A68828F2B95}"/>
              </a:ext>
            </a:extLst>
          </p:cNvPr>
          <p:cNvSpPr txBox="1">
            <a:spLocks/>
          </p:cNvSpPr>
          <p:nvPr/>
        </p:nvSpPr>
        <p:spPr>
          <a:xfrm>
            <a:off x="106465" y="910778"/>
            <a:ext cx="12085535" cy="96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BO" b="1" dirty="0">
                <a:solidFill>
                  <a:schemeClr val="accent4"/>
                </a:solidFill>
              </a:rPr>
              <a:t>O que São </a:t>
            </a:r>
            <a:r>
              <a:rPr lang="es-BO" b="1" dirty="0" err="1">
                <a:solidFill>
                  <a:schemeClr val="accent4"/>
                </a:solidFill>
              </a:rPr>
              <a:t>CNNs</a:t>
            </a:r>
            <a:endParaRPr lang="pt-BR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539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D8C5-D5BE-3470-3899-9C8F73DE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14A8C-BD4E-85C8-311B-28902CBC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DCFB247-8658-2993-AFC2-A5178335AD60}"/>
              </a:ext>
            </a:extLst>
          </p:cNvPr>
          <p:cNvSpPr txBox="1">
            <a:spLocks/>
          </p:cNvSpPr>
          <p:nvPr/>
        </p:nvSpPr>
        <p:spPr>
          <a:xfrm>
            <a:off x="106465" y="1121792"/>
            <a:ext cx="12085535" cy="96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O Desafio dos </a:t>
            </a:r>
            <a:r>
              <a:rPr lang="pt-BR" dirty="0" err="1"/>
              <a:t>ViTs</a:t>
            </a:r>
            <a:r>
              <a:rPr lang="pt-BR" dirty="0"/>
              <a:t> Puros e as Vantagens das </a:t>
            </a:r>
            <a:r>
              <a:rPr lang="pt-BR" dirty="0" err="1"/>
              <a:t>CNNs</a:t>
            </a:r>
            <a:endParaRPr lang="pt-BR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43052F3-A1EE-C2A6-B48F-51307DA92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034" b="5812"/>
          <a:stretch>
            <a:fillRect/>
          </a:stretch>
        </p:blipFill>
        <p:spPr>
          <a:xfrm>
            <a:off x="1471245" y="1606179"/>
            <a:ext cx="9290539" cy="517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9332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EF9E-AA71-682C-C50C-D52C8414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C4EDB-BEFA-CDF6-15D6-DC736B77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noProof="0" dirty="0"/>
              <a:t>Introdução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2EC6C0A0-1106-22CE-82ED-6343D21E2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8"/>
          <a:stretch>
            <a:fillRect/>
          </a:stretch>
        </p:blipFill>
        <p:spPr>
          <a:xfrm>
            <a:off x="76499" y="949570"/>
            <a:ext cx="11822423" cy="58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1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3113-1A58-C1B1-39D5-3A61CECE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8784-B284-5CB1-C524-E3C7E0B0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348C9D-37DF-3E8C-092A-1F798F21D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6688"/>
            <a:ext cx="11880260" cy="624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245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CE299-477A-BEE7-413C-BDBA68EF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C8B39-42FE-A04B-114F-B98EEBE9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6" name="Imagen 5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608B7D50-8CF4-3D91-1DF0-668F602A3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2" y="803723"/>
            <a:ext cx="11915687" cy="4506831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CF4BA40-BB03-7B73-CBDC-04D82744D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40" y="964165"/>
            <a:ext cx="11771404" cy="58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Arquitetura do </a:t>
            </a:r>
            <a:r>
              <a:rPr lang="pt-BR" dirty="0" err="1"/>
              <a:t>CvT</a:t>
            </a:r>
            <a:r>
              <a:rPr lang="pt-BR" dirty="0"/>
              <a:t>: Principais Inovações (I)</a:t>
            </a:r>
            <a:endParaRPr lang="pt-BR" noProof="0" dirty="0"/>
          </a:p>
          <a:p>
            <a:pPr marL="0" indent="0">
              <a:buNone/>
            </a:pPr>
            <a:endParaRPr lang="pt-BR" noProof="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4D38C01E-453D-DDAC-1CB2-25BD62232E27}"/>
              </a:ext>
            </a:extLst>
          </p:cNvPr>
          <p:cNvSpPr txBox="1">
            <a:spLocks/>
          </p:cNvSpPr>
          <p:nvPr/>
        </p:nvSpPr>
        <p:spPr>
          <a:xfrm>
            <a:off x="117004" y="5641676"/>
            <a:ext cx="11895802" cy="1087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A Figura 1 mostra o pipeline (fluxo de processamento) geral, enfatizando a estrutura hierárquica em três estágios.</a:t>
            </a:r>
          </a:p>
        </p:txBody>
      </p:sp>
    </p:spTree>
    <p:extLst>
      <p:ext uri="{BB962C8B-B14F-4D97-AF65-F5344CB8AC3E}">
        <p14:creationId xmlns:p14="http://schemas.microsoft.com/office/powerpoint/2010/main" val="54034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B1720-A23E-BE8E-202D-E39170E7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C1473-D2C3-4B43-4F35-A0794117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6" name="Imagen 5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EDD09D6A-8D96-B995-CD9F-43216E587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18" r="19815"/>
          <a:stretch>
            <a:fillRect/>
          </a:stretch>
        </p:blipFill>
        <p:spPr>
          <a:xfrm>
            <a:off x="467022" y="780277"/>
            <a:ext cx="11195766" cy="4714976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809BB64-C2BB-BEDF-3815-C2FF04334E9D}"/>
              </a:ext>
            </a:extLst>
          </p:cNvPr>
          <p:cNvSpPr txBox="1">
            <a:spLocks/>
          </p:cNvSpPr>
          <p:nvPr/>
        </p:nvSpPr>
        <p:spPr>
          <a:xfrm>
            <a:off x="117004" y="5893835"/>
            <a:ext cx="11895802" cy="1087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A Figura 1 (A</a:t>
            </a:r>
            <a:r>
              <a:rPr lang="pt-BR"/>
              <a:t>), enfatiza </a:t>
            </a:r>
            <a:r>
              <a:rPr lang="pt-BR" dirty="0"/>
              <a:t>a estrutura hierárquica em três estágios.</a:t>
            </a:r>
          </a:p>
        </p:txBody>
      </p:sp>
    </p:spTree>
    <p:extLst>
      <p:ext uri="{BB962C8B-B14F-4D97-AF65-F5344CB8AC3E}">
        <p14:creationId xmlns:p14="http://schemas.microsoft.com/office/powerpoint/2010/main" val="369160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DE13-E329-62D1-9186-D3D04C97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CEBBA-3906-1DBE-E91A-BB443440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6" name="Imagen 5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F004DB85-636A-C4C1-70F8-EE4B201B6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18" r="19815"/>
          <a:stretch>
            <a:fillRect/>
          </a:stretch>
        </p:blipFill>
        <p:spPr>
          <a:xfrm>
            <a:off x="6301766" y="545815"/>
            <a:ext cx="5711040" cy="2405143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BC41E611-B3DC-39F1-F054-06940B5FCE55}"/>
              </a:ext>
            </a:extLst>
          </p:cNvPr>
          <p:cNvSpPr txBox="1">
            <a:spLocks/>
          </p:cNvSpPr>
          <p:nvPr/>
        </p:nvSpPr>
        <p:spPr>
          <a:xfrm>
            <a:off x="7991594" y="3313967"/>
            <a:ext cx="3692997" cy="29109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Cada Estágio faz duas coisas:</a:t>
            </a:r>
            <a:endParaRPr lang="es-BO" dirty="0"/>
          </a:p>
          <a:p>
            <a:pPr lvl="0"/>
            <a:r>
              <a:rPr lang="pt-BR" b="1" dirty="0"/>
              <a:t>Reduz a resolução espacial</a:t>
            </a:r>
            <a:r>
              <a:rPr lang="pt-BR" dirty="0"/>
              <a:t> (menos </a:t>
            </a:r>
            <a:r>
              <a:rPr lang="pt-BR" i="1" dirty="0"/>
              <a:t>tokens</a:t>
            </a:r>
            <a:r>
              <a:rPr lang="pt-BR" dirty="0"/>
              <a:t>, mais compactos).</a:t>
            </a:r>
            <a:endParaRPr lang="es-BO" dirty="0"/>
          </a:p>
          <a:p>
            <a:pPr lvl="0"/>
            <a:r>
              <a:rPr lang="pt-BR" b="1" dirty="0"/>
              <a:t>Aumenta a dimensão das características</a:t>
            </a:r>
            <a:r>
              <a:rPr lang="pt-BR" dirty="0"/>
              <a:t> (mais canais por </a:t>
            </a:r>
            <a:r>
              <a:rPr lang="pt-BR" i="1" dirty="0"/>
              <a:t>token</a:t>
            </a:r>
            <a:r>
              <a:rPr lang="pt-BR" dirty="0"/>
              <a:t>, mais informação semântica).</a:t>
            </a:r>
            <a:endParaRPr lang="es-BO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1A48C2-78CC-CC74-43FE-291DB9511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28" y="3082759"/>
            <a:ext cx="7401958" cy="322942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05B27E0-1524-AC36-63D6-75AB30F4509B}"/>
              </a:ext>
            </a:extLst>
          </p:cNvPr>
          <p:cNvSpPr txBox="1"/>
          <p:nvPr/>
        </p:nvSpPr>
        <p:spPr>
          <a:xfrm>
            <a:off x="41337" y="1748386"/>
            <a:ext cx="62190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</a:rPr>
              <a:t>Estágio no </a:t>
            </a:r>
            <a:r>
              <a:rPr lang="pt-BR" sz="3200" b="1" dirty="0" err="1">
                <a:solidFill>
                  <a:schemeClr val="accent2"/>
                </a:solidFill>
              </a:rPr>
              <a:t>CvT</a:t>
            </a:r>
            <a:endParaRPr lang="es-BO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10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C4A1-E3A9-670A-DE1C-6C1711F7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AC87D-B951-C3F2-4D19-F066E95ED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6" name="Imagen 5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664C6BB8-0E35-CD5D-C74D-AF18C1282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04"/>
          <a:stretch>
            <a:fillRect/>
          </a:stretch>
        </p:blipFill>
        <p:spPr>
          <a:xfrm>
            <a:off x="8632968" y="504140"/>
            <a:ext cx="3247292" cy="5849719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B8846D9-727F-2221-9E52-C40E3AC4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04" y="964165"/>
            <a:ext cx="11771404" cy="58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Arquitetura do </a:t>
            </a:r>
            <a:r>
              <a:rPr lang="pt-BR" dirty="0" err="1"/>
              <a:t>CvT</a:t>
            </a:r>
            <a:r>
              <a:rPr lang="pt-BR" dirty="0"/>
              <a:t>: Principais Inovações (I)</a:t>
            </a:r>
            <a:endParaRPr lang="pt-BR" noProof="0" dirty="0"/>
          </a:p>
          <a:p>
            <a:pPr marL="0" indent="0">
              <a:buNone/>
            </a:pPr>
            <a:endParaRPr lang="pt-BR" noProof="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CBD2A2F-48AE-B501-CFAC-38A101AED158}"/>
              </a:ext>
            </a:extLst>
          </p:cNvPr>
          <p:cNvSpPr txBox="1">
            <a:spLocks/>
          </p:cNvSpPr>
          <p:nvPr/>
        </p:nvSpPr>
        <p:spPr>
          <a:xfrm>
            <a:off x="117004" y="1719612"/>
            <a:ext cx="7831242" cy="5009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A parte (b) da figura mostra como o </a:t>
            </a:r>
            <a:r>
              <a:rPr lang="pt-BR" dirty="0" err="1"/>
              <a:t>CvT</a:t>
            </a:r>
            <a:r>
              <a:rPr lang="pt-BR" dirty="0"/>
              <a:t> modifica o bloco </a:t>
            </a:r>
            <a:r>
              <a:rPr lang="pt-BR" dirty="0" err="1"/>
              <a:t>Transformer</a:t>
            </a:r>
            <a:r>
              <a:rPr lang="pt-BR" dirty="0"/>
              <a:t> clássico.</a:t>
            </a:r>
          </a:p>
          <a:p>
            <a:pPr marL="0" indent="0">
              <a:buNone/>
            </a:pPr>
            <a:r>
              <a:rPr lang="pt-BR" dirty="0"/>
              <a:t>Em vez de usar multiplicações lineares para obter Q, K e V, ele utiliza convoluções separáveis em profundidade (</a:t>
            </a:r>
            <a:r>
              <a:rPr lang="pt-BR" dirty="0" err="1"/>
              <a:t>depth-wise</a:t>
            </a:r>
            <a:r>
              <a:rPr lang="pt-BR" dirty="0"/>
              <a:t> </a:t>
            </a:r>
            <a:r>
              <a:rPr lang="pt-BR" dirty="0" err="1"/>
              <a:t>separable</a:t>
            </a:r>
            <a:r>
              <a:rPr lang="pt-BR" dirty="0"/>
              <a:t> </a:t>
            </a:r>
            <a:r>
              <a:rPr lang="pt-BR" dirty="0" err="1"/>
              <a:t>convolutions</a:t>
            </a:r>
            <a:r>
              <a:rPr lang="pt-BR" dirty="0"/>
              <a:t>), que respeitam a estrutura espacial dos tokens.</a:t>
            </a:r>
          </a:p>
          <a:p>
            <a:pPr marL="0" indent="0">
              <a:buNone/>
            </a:pPr>
            <a:r>
              <a:rPr lang="pt-BR" dirty="0"/>
              <a:t>Além disso, como as convoluções já incorporam a posição, o </a:t>
            </a:r>
            <a:r>
              <a:rPr lang="pt-BR" dirty="0" err="1"/>
              <a:t>CvT</a:t>
            </a:r>
            <a:r>
              <a:rPr lang="pt-BR" dirty="0"/>
              <a:t> não precisa de </a:t>
            </a:r>
            <a:r>
              <a:rPr lang="pt-BR" dirty="0" err="1"/>
              <a:t>positional</a:t>
            </a:r>
            <a:r>
              <a:rPr lang="pt-BR" dirty="0"/>
              <a:t> </a:t>
            </a:r>
            <a:r>
              <a:rPr lang="pt-BR" dirty="0" err="1"/>
              <a:t>embeddings</a:t>
            </a:r>
            <a:r>
              <a:rPr lang="pt-BR" dirty="0"/>
              <a:t> (incorporações posicionais).</a:t>
            </a:r>
          </a:p>
        </p:txBody>
      </p:sp>
    </p:spTree>
    <p:extLst>
      <p:ext uri="{BB962C8B-B14F-4D97-AF65-F5344CB8AC3E}">
        <p14:creationId xmlns:p14="http://schemas.microsoft.com/office/powerpoint/2010/main" val="4055132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1745-80BB-2E6F-E743-DD200471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D78DC-50F5-3B65-58EB-566D0D1C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0CC746-6ECA-CA4D-2A4A-C4F2F074B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40" y="964165"/>
            <a:ext cx="11771404" cy="58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Arquitetura do </a:t>
            </a:r>
            <a:r>
              <a:rPr lang="pt-BR" dirty="0" err="1"/>
              <a:t>CvT</a:t>
            </a:r>
            <a:r>
              <a:rPr lang="pt-BR" dirty="0"/>
              <a:t>: Principais Inovações (II)</a:t>
            </a:r>
            <a:endParaRPr lang="pt-BR" noProof="0" dirty="0"/>
          </a:p>
          <a:p>
            <a:pPr marL="0" indent="0">
              <a:buNone/>
            </a:pPr>
            <a:endParaRPr lang="pt-BR" noProof="0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356ABBE-4880-29D4-40E6-DCB6CBEF91B3}"/>
              </a:ext>
            </a:extLst>
          </p:cNvPr>
          <p:cNvSpPr txBox="1">
            <a:spLocks/>
          </p:cNvSpPr>
          <p:nvPr/>
        </p:nvSpPr>
        <p:spPr>
          <a:xfrm>
            <a:off x="210298" y="1597497"/>
            <a:ext cx="11771404" cy="51315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2. Bloco do </a:t>
            </a:r>
            <a:r>
              <a:rPr lang="pt-BR" b="1" dirty="0" err="1"/>
              <a:t>Transformer</a:t>
            </a:r>
            <a:r>
              <a:rPr lang="pt-BR" b="1" dirty="0"/>
              <a:t> Convolucional com Projeção Convolucional</a:t>
            </a:r>
            <a:endParaRPr lang="pt-BR" dirty="0"/>
          </a:p>
          <a:p>
            <a:r>
              <a:rPr lang="pt-BR" b="1" dirty="0"/>
              <a:t>Função:</a:t>
            </a:r>
            <a:r>
              <a:rPr lang="pt-BR" dirty="0"/>
              <a:t> A projeção linear padrão, utilizada antes de cada bloco de </a:t>
            </a:r>
            <a:r>
              <a:rPr lang="pt-BR" dirty="0" err="1"/>
              <a:t>autoatenção</a:t>
            </a:r>
            <a:r>
              <a:rPr lang="pt-BR" dirty="0"/>
              <a:t> em um </a:t>
            </a:r>
            <a:r>
              <a:rPr lang="pt-BR" dirty="0" err="1"/>
              <a:t>Transformer</a:t>
            </a:r>
            <a:r>
              <a:rPr lang="pt-BR" dirty="0"/>
              <a:t> para Q (query), K (</a:t>
            </a:r>
            <a:r>
              <a:rPr lang="pt-BR" dirty="0" err="1"/>
              <a:t>key</a:t>
            </a:r>
            <a:r>
              <a:rPr lang="pt-BR" dirty="0"/>
              <a:t>) e V (</a:t>
            </a:r>
            <a:r>
              <a:rPr lang="pt-BR" dirty="0" err="1"/>
              <a:t>value</a:t>
            </a:r>
            <a:r>
              <a:rPr lang="pt-BR" dirty="0"/>
              <a:t>), é substituída por uma </a:t>
            </a:r>
            <a:r>
              <a:rPr lang="pt-BR" b="1" dirty="0">
                <a:solidFill>
                  <a:srgbClr val="7030A0"/>
                </a:solidFill>
              </a:rPr>
              <a:t>projeção convolucional</a:t>
            </a:r>
            <a:r>
              <a:rPr lang="pt-BR" dirty="0"/>
              <a:t>.</a:t>
            </a:r>
          </a:p>
          <a:p>
            <a:r>
              <a:rPr lang="pt-BR" b="1" dirty="0"/>
              <a:t>Mecanismo:</a:t>
            </a:r>
            <a:r>
              <a:rPr lang="pt-BR" dirty="0"/>
              <a:t> Emprega uma convolução separável em profundidade </a:t>
            </a:r>
            <a:r>
              <a:rPr lang="pt-BR" b="1" dirty="0">
                <a:solidFill>
                  <a:schemeClr val="accent6"/>
                </a:solidFill>
              </a:rPr>
              <a:t>(</a:t>
            </a:r>
            <a:r>
              <a:rPr lang="pt-BR" b="1" i="1" dirty="0" err="1">
                <a:solidFill>
                  <a:schemeClr val="accent6"/>
                </a:solidFill>
              </a:rPr>
              <a:t>depth-wise</a:t>
            </a:r>
            <a:r>
              <a:rPr lang="pt-BR" b="1" i="1" dirty="0">
                <a:solidFill>
                  <a:schemeClr val="accent6"/>
                </a:solidFill>
              </a:rPr>
              <a:t> </a:t>
            </a:r>
            <a:r>
              <a:rPr lang="pt-BR" b="1" i="1" dirty="0" err="1">
                <a:solidFill>
                  <a:schemeClr val="accent6"/>
                </a:solidFill>
              </a:rPr>
              <a:t>separable</a:t>
            </a:r>
            <a:r>
              <a:rPr lang="pt-BR" b="1" i="1" dirty="0">
                <a:solidFill>
                  <a:schemeClr val="accent6"/>
                </a:solidFill>
              </a:rPr>
              <a:t> </a:t>
            </a:r>
            <a:r>
              <a:rPr lang="pt-BR" b="1" i="1" dirty="0" err="1">
                <a:solidFill>
                  <a:schemeClr val="accent6"/>
                </a:solidFill>
              </a:rPr>
              <a:t>convolution</a:t>
            </a:r>
            <a:r>
              <a:rPr lang="pt-BR" b="1" dirty="0">
                <a:solidFill>
                  <a:schemeClr val="accent6"/>
                </a:solidFill>
              </a:rPr>
              <a:t>) </a:t>
            </a:r>
            <a:r>
              <a:rPr lang="pt-BR" dirty="0"/>
              <a:t>de tamanho s x s em um mapa de tokens 2D.</a:t>
            </a:r>
          </a:p>
          <a:p>
            <a:r>
              <a:rPr lang="pt-BR" b="1" dirty="0"/>
              <a:t>Benefícios de Eficiência:</a:t>
            </a:r>
            <a:endParaRPr lang="pt-BR" dirty="0"/>
          </a:p>
          <a:p>
            <a:pPr lvl="1"/>
            <a:r>
              <a:rPr lang="pt-BR" b="1" dirty="0"/>
              <a:t>Contexto Local Aprimorado:</a:t>
            </a:r>
            <a:r>
              <a:rPr lang="pt-BR" dirty="0"/>
              <a:t> Captura ainda mais contexto espacial local e reduz a ambiguidade semântica no mecanismo de atenção.</a:t>
            </a:r>
          </a:p>
          <a:p>
            <a:pPr lvl="1"/>
            <a:r>
              <a:rPr lang="pt-BR" b="1" dirty="0"/>
              <a:t>Redução de Custo Computacional:</a:t>
            </a:r>
            <a:r>
              <a:rPr lang="pt-BR" dirty="0"/>
              <a:t> </a:t>
            </a:r>
            <a:r>
              <a:rPr lang="pt-BR" b="1" dirty="0">
                <a:solidFill>
                  <a:schemeClr val="accent2"/>
                </a:solidFill>
              </a:rPr>
              <a:t>Permite a </a:t>
            </a:r>
            <a:r>
              <a:rPr lang="pt-BR" b="1" dirty="0" err="1">
                <a:solidFill>
                  <a:schemeClr val="accent2"/>
                </a:solidFill>
              </a:rPr>
              <a:t>subamostragem</a:t>
            </a:r>
            <a:r>
              <a:rPr lang="pt-BR" b="1" dirty="0">
                <a:solidFill>
                  <a:schemeClr val="accent2"/>
                </a:solidFill>
              </a:rPr>
              <a:t> das matrizes K e V utilizando um stride maior que 1</a:t>
            </a:r>
            <a:r>
              <a:rPr lang="pt-BR" dirty="0"/>
              <a:t> (por exemplo, stride de 2, reduzindo 4x o custo). Isso resulta em uma melhoria de eficiência de 4x ou mais na operação MHSA, com degradação mínima de desempenho.</a:t>
            </a:r>
          </a:p>
          <a:p>
            <a:pPr lvl="1"/>
            <a:r>
              <a:rPr lang="pt-BR" dirty="0"/>
              <a:t>As convoluções compensam a perda de informação causada pela redução de resolução.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87418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6F6C2-F3BE-C8E5-076E-5746929D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502F4-6EAB-721A-602F-32677EB3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3C14331-EEB9-EA25-A274-8CD7951D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0686"/>
            <a:ext cx="12192000" cy="3070313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B3D9FDF-B9E8-C238-2D49-C99C968BA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40" y="964165"/>
            <a:ext cx="11771404" cy="58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Arquitetura do </a:t>
            </a:r>
            <a:r>
              <a:rPr lang="pt-BR" dirty="0" err="1"/>
              <a:t>CvT</a:t>
            </a:r>
            <a:r>
              <a:rPr lang="pt-BR" dirty="0"/>
              <a:t>: Principais Inovações (II)</a:t>
            </a:r>
            <a:endParaRPr lang="pt-BR" noProof="0" dirty="0"/>
          </a:p>
          <a:p>
            <a:pPr marL="0" indent="0">
              <a:buNone/>
            </a:pPr>
            <a:endParaRPr lang="pt-BR" noProof="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EF149F4-EF75-3F18-9F93-98CC00E925A8}"/>
              </a:ext>
            </a:extLst>
          </p:cNvPr>
          <p:cNvSpPr txBox="1">
            <a:spLocks/>
          </p:cNvSpPr>
          <p:nvPr/>
        </p:nvSpPr>
        <p:spPr>
          <a:xfrm>
            <a:off x="464140" y="4407520"/>
            <a:ext cx="11771404" cy="23684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A Figura 2 compara três maneiras de gerar Q, K e V. </a:t>
            </a:r>
            <a:r>
              <a:rPr lang="pt-BR" b="1" dirty="0">
                <a:solidFill>
                  <a:schemeClr val="accent2"/>
                </a:solidFill>
              </a:rPr>
              <a:t>No </a:t>
            </a:r>
            <a:r>
              <a:rPr lang="pt-BR" b="1" dirty="0" err="1">
                <a:solidFill>
                  <a:schemeClr val="accent2"/>
                </a:solidFill>
              </a:rPr>
              <a:t>ViT</a:t>
            </a:r>
            <a:r>
              <a:rPr lang="pt-BR" b="1" dirty="0">
                <a:solidFill>
                  <a:schemeClr val="accent2"/>
                </a:solidFill>
              </a:rPr>
              <a:t> clássico (a)</a:t>
            </a:r>
            <a:r>
              <a:rPr lang="pt-BR" dirty="0"/>
              <a:t>, as projeções são lineares e independentes, sem noção espacial. </a:t>
            </a:r>
            <a:r>
              <a:rPr lang="pt-BR" b="1" dirty="0">
                <a:solidFill>
                  <a:schemeClr val="accent6"/>
                </a:solidFill>
              </a:rPr>
              <a:t>No </a:t>
            </a:r>
            <a:r>
              <a:rPr lang="pt-BR" b="1" dirty="0" err="1">
                <a:solidFill>
                  <a:schemeClr val="accent6"/>
                </a:solidFill>
              </a:rPr>
              <a:t>CvT</a:t>
            </a:r>
            <a:r>
              <a:rPr lang="pt-BR" b="1" dirty="0">
                <a:solidFill>
                  <a:schemeClr val="accent6"/>
                </a:solidFill>
              </a:rPr>
              <a:t> (b)</a:t>
            </a:r>
            <a:r>
              <a:rPr lang="pt-BR" dirty="0"/>
              <a:t>, cada projeção é feita com uma convolução 2D, de modo que cada token incorpora informação local da vizinhança. </a:t>
            </a:r>
            <a:r>
              <a:rPr lang="pt-BR" b="1" dirty="0">
                <a:solidFill>
                  <a:schemeClr val="accent2"/>
                </a:solidFill>
              </a:rPr>
              <a:t>A versão comprimida (c)</a:t>
            </a:r>
            <a:r>
              <a:rPr lang="pt-BR" dirty="0"/>
              <a:t> usa stride = 2 para K e V, reduzindo a resolução e o custo de cálculo, mas mantendo a precisão. Assim, o </a:t>
            </a:r>
            <a:r>
              <a:rPr lang="pt-BR" b="1" dirty="0" err="1">
                <a:solidFill>
                  <a:srgbClr val="7030A0"/>
                </a:solidFill>
              </a:rPr>
              <a:t>CvT</a:t>
            </a:r>
            <a:r>
              <a:rPr lang="pt-BR" dirty="0"/>
              <a:t> une o melhor das </a:t>
            </a:r>
            <a:r>
              <a:rPr lang="pt-BR" dirty="0" err="1"/>
              <a:t>CNNs</a:t>
            </a:r>
            <a:r>
              <a:rPr lang="pt-BR" dirty="0"/>
              <a:t> (percepção local e hierarquia) com o poder global dos Transformers.</a:t>
            </a:r>
          </a:p>
        </p:txBody>
      </p:sp>
    </p:spTree>
    <p:extLst>
      <p:ext uri="{BB962C8B-B14F-4D97-AF65-F5344CB8AC3E}">
        <p14:creationId xmlns:p14="http://schemas.microsoft.com/office/powerpoint/2010/main" val="3554051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F34A-FEA4-E1E9-4AE2-493354B7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D859E-980F-E5A7-BDFF-3191DCA4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25656BA-EFD2-6307-E710-3D886618E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96"/>
          <a:stretch>
            <a:fillRect/>
          </a:stretch>
        </p:blipFill>
        <p:spPr>
          <a:xfrm>
            <a:off x="464140" y="964165"/>
            <a:ext cx="5654589" cy="5717976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FDD34AC7-1AB9-5498-3323-5FD5C65CB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40" y="964165"/>
            <a:ext cx="11771404" cy="58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Arquitetura do </a:t>
            </a:r>
            <a:r>
              <a:rPr lang="pt-BR" dirty="0" err="1"/>
              <a:t>CvT</a:t>
            </a:r>
            <a:r>
              <a:rPr lang="pt-BR" dirty="0"/>
              <a:t>: Principais Inovações (II)</a:t>
            </a:r>
            <a:endParaRPr lang="pt-BR" noProof="0" dirty="0"/>
          </a:p>
          <a:p>
            <a:pPr marL="0" indent="0">
              <a:buNone/>
            </a:pPr>
            <a:endParaRPr lang="pt-BR" noProof="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17FF1E8-7A1A-D819-9E9F-9681017F3EC6}"/>
              </a:ext>
            </a:extLst>
          </p:cNvPr>
          <p:cNvSpPr txBox="1">
            <a:spLocks/>
          </p:cNvSpPr>
          <p:nvPr/>
        </p:nvSpPr>
        <p:spPr>
          <a:xfrm>
            <a:off x="5990492" y="2344615"/>
            <a:ext cx="6245052" cy="43375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(a)  Linear </a:t>
            </a:r>
            <a:r>
              <a:rPr lang="pt-BR" b="1" dirty="0" err="1"/>
              <a:t>Projection</a:t>
            </a:r>
            <a:r>
              <a:rPr lang="pt-BR" b="1" dirty="0"/>
              <a:t> (</a:t>
            </a:r>
            <a:r>
              <a:rPr lang="pt-BR" b="1" dirty="0" err="1"/>
              <a:t>ViT</a:t>
            </a:r>
            <a:r>
              <a:rPr lang="pt-BR" b="1" dirty="0"/>
              <a:t> clássico)</a:t>
            </a:r>
          </a:p>
          <a:p>
            <a:r>
              <a:rPr lang="pt-BR" dirty="0"/>
              <a:t>Esta parte mostra como o </a:t>
            </a:r>
            <a:r>
              <a:rPr lang="pt-BR" b="1" dirty="0"/>
              <a:t>Vision </a:t>
            </a:r>
            <a:r>
              <a:rPr lang="pt-BR" b="1" dirty="0" err="1"/>
              <a:t>Transformer</a:t>
            </a:r>
            <a:r>
              <a:rPr lang="pt-BR" b="1" dirty="0"/>
              <a:t> original (</a:t>
            </a:r>
            <a:r>
              <a:rPr lang="pt-BR" b="1" dirty="0" err="1"/>
              <a:t>ViT</a:t>
            </a:r>
            <a:r>
              <a:rPr lang="pt-BR" b="1" dirty="0"/>
              <a:t>)</a:t>
            </a:r>
            <a:r>
              <a:rPr lang="pt-BR" dirty="0"/>
              <a:t> calcula as matrizes de atenção </a:t>
            </a:r>
            <a:r>
              <a:rPr lang="pt-BR" b="1" dirty="0"/>
              <a:t>Q</a:t>
            </a:r>
            <a:r>
              <a:rPr lang="pt-BR" dirty="0"/>
              <a:t>, </a:t>
            </a:r>
            <a:r>
              <a:rPr lang="pt-BR" b="1" dirty="0"/>
              <a:t>K</a:t>
            </a:r>
            <a:r>
              <a:rPr lang="pt-BR" dirty="0"/>
              <a:t> e </a:t>
            </a:r>
            <a:r>
              <a:rPr lang="pt-BR" b="1" dirty="0"/>
              <a:t>V</a:t>
            </a:r>
            <a:r>
              <a:rPr lang="pt-BR" dirty="0"/>
              <a:t>:</a:t>
            </a:r>
          </a:p>
          <a:p>
            <a:r>
              <a:rPr lang="pt-BR" dirty="0"/>
              <a:t>A imagem é dividida em pequenos patches, transformados em uma </a:t>
            </a:r>
            <a:r>
              <a:rPr lang="pt-BR" b="1" dirty="0"/>
              <a:t>sequência de tokens</a:t>
            </a:r>
            <a:r>
              <a:rPr lang="pt-BR" dirty="0"/>
              <a:t> (os quadradinhos rosados).</a:t>
            </a:r>
          </a:p>
          <a:p>
            <a:r>
              <a:rPr lang="pt-BR" dirty="0"/>
              <a:t>Cada token é multiplicado por uma matriz de pesos diferente para gerar:</a:t>
            </a:r>
          </a:p>
          <a:p>
            <a:pPr lvl="1"/>
            <a:r>
              <a:rPr lang="pt-BR" b="1" dirty="0"/>
              <a:t>Q</a:t>
            </a:r>
            <a:r>
              <a:rPr lang="pt-BR" dirty="0"/>
              <a:t> (</a:t>
            </a:r>
            <a:r>
              <a:rPr lang="pt-BR" i="1" dirty="0"/>
              <a:t>query</a:t>
            </a:r>
            <a:r>
              <a:rPr lang="pt-BR" dirty="0"/>
              <a:t>),</a:t>
            </a:r>
          </a:p>
          <a:p>
            <a:pPr lvl="1"/>
            <a:r>
              <a:rPr lang="pt-BR" b="1" dirty="0"/>
              <a:t>K</a:t>
            </a:r>
            <a:r>
              <a:rPr lang="pt-BR" dirty="0"/>
              <a:t> (</a:t>
            </a:r>
            <a:r>
              <a:rPr lang="pt-BR" i="1" dirty="0" err="1"/>
              <a:t>key</a:t>
            </a:r>
            <a:r>
              <a:rPr lang="pt-BR" dirty="0"/>
              <a:t>),</a:t>
            </a:r>
          </a:p>
          <a:p>
            <a:pPr lvl="1"/>
            <a:r>
              <a:rPr lang="pt-BR" b="1" dirty="0"/>
              <a:t>V</a:t>
            </a:r>
            <a:r>
              <a:rPr lang="pt-BR" dirty="0"/>
              <a:t> (</a:t>
            </a:r>
            <a:r>
              <a:rPr lang="pt-BR" i="1" dirty="0" err="1"/>
              <a:t>value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04002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F7F6-ADE0-2A29-AAB1-B64919EB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5F1D4-7E32-29C6-0891-D69027DB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566D6A9-AB34-EE02-E6F2-DE01ACDD0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5" r="40577"/>
          <a:stretch>
            <a:fillRect/>
          </a:stretch>
        </p:blipFill>
        <p:spPr>
          <a:xfrm>
            <a:off x="140675" y="1719612"/>
            <a:ext cx="7373817" cy="5138388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14FC897-73F0-7072-C487-F3A8177A2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40" y="964165"/>
            <a:ext cx="11771404" cy="58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Arquitetura do </a:t>
            </a:r>
            <a:r>
              <a:rPr lang="pt-BR" dirty="0" err="1"/>
              <a:t>CvT</a:t>
            </a:r>
            <a:r>
              <a:rPr lang="pt-BR" dirty="0"/>
              <a:t>: Principais Inovações (II)</a:t>
            </a:r>
            <a:endParaRPr lang="pt-BR" noProof="0" dirty="0"/>
          </a:p>
          <a:p>
            <a:pPr marL="0" indent="0">
              <a:buNone/>
            </a:pPr>
            <a:endParaRPr lang="pt-B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2">
                <a:extLst>
                  <a:ext uri="{FF2B5EF4-FFF2-40B4-BE49-F238E27FC236}">
                    <a16:creationId xmlns:a16="http://schemas.microsoft.com/office/drawing/2014/main" id="{AFC6BB72-75D3-F8CB-A3D3-57AE3C5FC5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2400" y="2579077"/>
                <a:ext cx="4463144" cy="42789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b="1" dirty="0"/>
                  <a:t>(b) </a:t>
                </a:r>
                <a:r>
                  <a:rPr lang="pt-BR" b="1" dirty="0" err="1"/>
                  <a:t>Convolutional</a:t>
                </a:r>
                <a:r>
                  <a:rPr lang="pt-BR" b="1" dirty="0"/>
                  <a:t> </a:t>
                </a:r>
                <a:r>
                  <a:rPr lang="pt-BR" b="1" dirty="0" err="1"/>
                  <a:t>Projection</a:t>
                </a:r>
                <a:endParaRPr lang="pt-BR" b="1" dirty="0"/>
              </a:p>
              <a:p>
                <a:r>
                  <a:rPr lang="pt-BR" dirty="0"/>
                  <a:t>Em vez de multiplicar cada token separadamente, o </a:t>
                </a:r>
                <a:r>
                  <a:rPr lang="pt-BR" dirty="0" err="1"/>
                  <a:t>CvT</a:t>
                </a:r>
                <a:r>
                  <a:rPr lang="pt-BR" dirty="0"/>
                  <a:t>:</a:t>
                </a:r>
              </a:p>
              <a:p>
                <a:pPr lvl="1"/>
                <a:r>
                  <a:rPr lang="pt-BR" b="1" dirty="0"/>
                  <a:t>Reestrutura</a:t>
                </a:r>
                <a:r>
                  <a:rPr lang="pt-BR" dirty="0"/>
                  <a:t> os tokens em formato 2D (um mapa de tokens).</a:t>
                </a:r>
              </a:p>
              <a:p>
                <a:pPr lvl="1"/>
                <a:r>
                  <a:rPr lang="pt-BR" b="1" dirty="0"/>
                  <a:t>Aplica uma convolução 2D</a:t>
                </a:r>
                <a:r>
                  <a:rPr lang="pt-BR" dirty="0"/>
                  <a:t> com uma janela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>
                        <a:latin typeface="Cambria Math" panose="02040503050406030204" pitchFamily="18" charset="0"/>
                      </a:rPr>
                      <m:t>×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b="1" dirty="0"/>
                  <a:t>Desliza essa janela</a:t>
                </a:r>
                <a:r>
                  <a:rPr lang="pt-BR" dirty="0"/>
                  <a:t> sobre toda a imagem com </a:t>
                </a:r>
                <a:r>
                  <a:rPr lang="pt-BR" i="1" dirty="0"/>
                  <a:t>stride = 1</a:t>
                </a:r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Gera novos mapas para </a:t>
                </a:r>
                <a:r>
                  <a:rPr lang="pt-BR" b="1" dirty="0"/>
                  <a:t>Q</a:t>
                </a:r>
                <a:r>
                  <a:rPr lang="pt-BR" dirty="0"/>
                  <a:t>, </a:t>
                </a:r>
                <a:r>
                  <a:rPr lang="pt-BR" b="1" dirty="0"/>
                  <a:t>K</a:t>
                </a:r>
                <a:r>
                  <a:rPr lang="pt-BR" dirty="0"/>
                  <a:t> e </a:t>
                </a:r>
                <a:r>
                  <a:rPr lang="pt-BR" b="1" dirty="0"/>
                  <a:t>V</a:t>
                </a:r>
                <a:r>
                  <a:rPr lang="pt-BR" dirty="0"/>
                  <a:t>, que são depois achatados (</a:t>
                </a:r>
                <a:r>
                  <a:rPr lang="pt-BR" i="1" dirty="0" err="1"/>
                  <a:t>flatten</a:t>
                </a:r>
                <a:r>
                  <a:rPr lang="pt-BR" dirty="0"/>
                  <a:t>) e enviados para o mecanismo de atenção.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6" name="Espaço Reservado para Conteúdo 2">
                <a:extLst>
                  <a:ext uri="{FF2B5EF4-FFF2-40B4-BE49-F238E27FC236}">
                    <a16:creationId xmlns:a16="http://schemas.microsoft.com/office/drawing/2014/main" id="{AFC6BB72-75D3-F8CB-A3D3-57AE3C5FC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579077"/>
                <a:ext cx="4463144" cy="4278923"/>
              </a:xfrm>
              <a:prstGeom prst="rect">
                <a:avLst/>
              </a:prstGeom>
              <a:blipFill>
                <a:blip r:embed="rId4"/>
                <a:stretch>
                  <a:fillRect l="-2049" t="-356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B4D7FACE-DB73-ABBA-1118-4D9A7E623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680" y="546094"/>
            <a:ext cx="3286584" cy="141942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C6C000D-8E2B-7D9F-C210-B852875F2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023" y="1893526"/>
            <a:ext cx="1771897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4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25B19-7AF4-5BEF-1EFF-75329441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B8610-D669-D46B-6A4C-80ECB517A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Arquitetura e funcionamento</a:t>
            </a:r>
            <a:endParaRPr lang="pt-BR" noProof="0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2F2DC6C4-4BFC-5451-A127-894E99BA1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6" r="2693"/>
          <a:stretch>
            <a:fillRect/>
          </a:stretch>
        </p:blipFill>
        <p:spPr>
          <a:xfrm>
            <a:off x="93784" y="1719612"/>
            <a:ext cx="7650815" cy="500943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2C2BC3B-D892-A3CD-3A05-BD7D68906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40" y="964165"/>
            <a:ext cx="11771404" cy="583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Arquitetura do </a:t>
            </a:r>
            <a:r>
              <a:rPr lang="pt-BR" dirty="0" err="1"/>
              <a:t>CvT</a:t>
            </a:r>
            <a:r>
              <a:rPr lang="pt-BR" dirty="0"/>
              <a:t>: Principais Inovações (II)</a:t>
            </a:r>
            <a:endParaRPr lang="pt-BR" noProof="0" dirty="0"/>
          </a:p>
          <a:p>
            <a:pPr marL="0" indent="0">
              <a:buNone/>
            </a:pPr>
            <a:endParaRPr lang="pt-BR" noProof="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4E40BD78-C9E8-B5DF-77B3-4B97F068D950}"/>
              </a:ext>
            </a:extLst>
          </p:cNvPr>
          <p:cNvSpPr txBox="1">
            <a:spLocks/>
          </p:cNvSpPr>
          <p:nvPr/>
        </p:nvSpPr>
        <p:spPr>
          <a:xfrm>
            <a:off x="7744599" y="2180493"/>
            <a:ext cx="4338545" cy="45485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(c) Projeção convolucional comprimida</a:t>
            </a:r>
          </a:p>
          <a:p>
            <a:r>
              <a:rPr lang="pt-BR" b="1" dirty="0"/>
              <a:t>Q</a:t>
            </a:r>
            <a:r>
              <a:rPr lang="pt-BR" dirty="0"/>
              <a:t> é calculado como antes (</a:t>
            </a:r>
            <a:r>
              <a:rPr lang="pt-BR" i="1" dirty="0"/>
              <a:t>stride = 1</a:t>
            </a:r>
            <a:r>
              <a:rPr lang="pt-BR" dirty="0"/>
              <a:t>).</a:t>
            </a:r>
          </a:p>
          <a:p>
            <a:r>
              <a:rPr lang="pt-BR" b="1" dirty="0"/>
              <a:t>K</a:t>
            </a:r>
            <a:r>
              <a:rPr lang="pt-BR" dirty="0"/>
              <a:t> e </a:t>
            </a:r>
            <a:r>
              <a:rPr lang="pt-BR" b="1" dirty="0"/>
              <a:t>V</a:t>
            </a:r>
            <a:r>
              <a:rPr lang="pt-BR" dirty="0"/>
              <a:t> são obtidos com </a:t>
            </a:r>
            <a:r>
              <a:rPr lang="pt-BR" b="1" dirty="0"/>
              <a:t>stride = 2</a:t>
            </a:r>
            <a:r>
              <a:rPr lang="pt-BR" dirty="0"/>
              <a:t>, o que:</a:t>
            </a:r>
          </a:p>
          <a:p>
            <a:pPr lvl="1"/>
            <a:r>
              <a:rPr lang="pt-BR" b="1" dirty="0"/>
              <a:t>Reduz</a:t>
            </a:r>
            <a:r>
              <a:rPr lang="pt-BR" dirty="0"/>
              <a:t> a resolução espacial dos mapas K e V (por exemplo, de 56×56 para 28×28).</a:t>
            </a:r>
          </a:p>
          <a:p>
            <a:pPr lvl="1"/>
            <a:r>
              <a:rPr lang="pt-BR" b="1" dirty="0"/>
              <a:t>Diminui</a:t>
            </a:r>
            <a:r>
              <a:rPr lang="pt-BR" dirty="0"/>
              <a:t> o número de tokens a serem comparados na atenção.</a:t>
            </a:r>
          </a:p>
          <a:p>
            <a:r>
              <a:rPr lang="pt-BR" dirty="0"/>
              <a:t>As janelas de K e V pulam posições (stride = 2).</a:t>
            </a:r>
          </a:p>
          <a:p>
            <a:r>
              <a:rPr lang="pt-BR" dirty="0"/>
              <a:t>Os mapas gerados são menores e, portanto, </a:t>
            </a:r>
            <a:r>
              <a:rPr lang="pt-BR" b="1" dirty="0"/>
              <a:t>“espremidos”</a:t>
            </a:r>
            <a:r>
              <a:rPr lang="pt-BR" dirty="0"/>
              <a:t>.</a:t>
            </a:r>
          </a:p>
          <a:p>
            <a:r>
              <a:rPr lang="pt-BR" dirty="0"/>
              <a:t>Todos são achatados no final, como no caso anterior.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2960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2918F-59BC-B768-0724-A06AB93B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64CD8-5AFD-7181-3E46-1F38E592A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noProof="0" dirty="0"/>
              <a:t>RESULTADOS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9D0794E-332B-EB67-15BE-0FBF8EB18184}"/>
              </a:ext>
            </a:extLst>
          </p:cNvPr>
          <p:cNvSpPr txBox="1">
            <a:spLocks/>
          </p:cNvSpPr>
          <p:nvPr/>
        </p:nvSpPr>
        <p:spPr>
          <a:xfrm>
            <a:off x="222739" y="1076813"/>
            <a:ext cx="11746522" cy="5628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Vantagens e Desempenho</a:t>
            </a:r>
            <a:endParaRPr lang="pt-BR" dirty="0"/>
          </a:p>
          <a:p>
            <a:r>
              <a:rPr lang="pt-BR" b="1" dirty="0"/>
              <a:t>Desempenho de Ponta e Eficiência:</a:t>
            </a:r>
            <a:r>
              <a:rPr lang="pt-BR" dirty="0"/>
              <a:t> O </a:t>
            </a:r>
            <a:r>
              <a:rPr lang="pt-BR" dirty="0" err="1"/>
              <a:t>CvT</a:t>
            </a:r>
            <a:r>
              <a:rPr lang="pt-BR" dirty="0"/>
              <a:t> atinge um desempenho superior aos Vision Transformers e </a:t>
            </a:r>
            <a:r>
              <a:rPr lang="pt-BR" dirty="0" err="1"/>
              <a:t>ResNets</a:t>
            </a:r>
            <a:r>
              <a:rPr lang="pt-BR" dirty="0"/>
              <a:t> existentes na classificação ImageNet-1k, utilizando menos parâmetros e </a:t>
            </a:r>
            <a:r>
              <a:rPr lang="pt-BR" dirty="0" err="1"/>
              <a:t>FLOPs</a:t>
            </a:r>
            <a:r>
              <a:rPr lang="pt-BR" dirty="0"/>
              <a:t>.</a:t>
            </a:r>
          </a:p>
          <a:p>
            <a:r>
              <a:rPr lang="pt-BR" b="1" dirty="0">
                <a:solidFill>
                  <a:schemeClr val="accent6"/>
                </a:solidFill>
              </a:rPr>
              <a:t>Invariância Reforçada:</a:t>
            </a:r>
            <a:r>
              <a:rPr lang="pt-BR" dirty="0">
                <a:solidFill>
                  <a:schemeClr val="accent6"/>
                </a:solidFill>
              </a:rPr>
              <a:t> </a:t>
            </a:r>
            <a:r>
              <a:rPr lang="pt-BR" dirty="0"/>
              <a:t>Herda propriedades desejáveis das </a:t>
            </a:r>
            <a:r>
              <a:rPr lang="pt-BR" dirty="0" err="1"/>
              <a:t>CNNs</a:t>
            </a:r>
            <a:r>
              <a:rPr lang="pt-BR" dirty="0"/>
              <a:t>, como invariância a deslocamento, escala e distorção.</a:t>
            </a:r>
          </a:p>
          <a:p>
            <a:r>
              <a:rPr lang="pt-BR" b="1" dirty="0"/>
              <a:t>Remoção de </a:t>
            </a:r>
            <a:r>
              <a:rPr lang="pt-BR" b="1" dirty="0" err="1"/>
              <a:t>Positional</a:t>
            </a:r>
            <a:r>
              <a:rPr lang="pt-BR" b="1" dirty="0"/>
              <a:t> </a:t>
            </a:r>
            <a:r>
              <a:rPr lang="pt-BR" b="1" dirty="0" err="1"/>
              <a:t>Embeddings</a:t>
            </a:r>
            <a:r>
              <a:rPr lang="pt-BR" b="1" dirty="0"/>
              <a:t>:</a:t>
            </a:r>
            <a:r>
              <a:rPr lang="pt-BR" dirty="0"/>
              <a:t> Uma vantagem significativa é que o </a:t>
            </a:r>
            <a:r>
              <a:rPr lang="pt-BR" dirty="0" err="1"/>
              <a:t>CvT</a:t>
            </a:r>
            <a:r>
              <a:rPr lang="pt-BR" dirty="0"/>
              <a:t> </a:t>
            </a:r>
            <a:r>
              <a:rPr lang="pt-BR" b="1" dirty="0">
                <a:solidFill>
                  <a:schemeClr val="accent2"/>
                </a:solidFill>
              </a:rPr>
              <a:t>não requer </a:t>
            </a:r>
            <a:r>
              <a:rPr lang="pt-BR" b="1" dirty="0" err="1">
                <a:solidFill>
                  <a:schemeClr val="accent2"/>
                </a:solidFill>
              </a:rPr>
              <a:t>embeddings</a:t>
            </a:r>
            <a:r>
              <a:rPr lang="pt-BR" b="1" dirty="0">
                <a:solidFill>
                  <a:schemeClr val="accent2"/>
                </a:solidFill>
              </a:rPr>
              <a:t> posicionais explícitos</a:t>
            </a:r>
            <a:r>
              <a:rPr lang="pt-BR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pt-BR" sz="2800" dirty="0"/>
              <a:t>As convoluções incorporadas permitem que a rede modele relações espaciais localmente.</a:t>
            </a:r>
          </a:p>
          <a:p>
            <a:pPr lvl="1"/>
            <a:r>
              <a:rPr lang="pt-BR" sz="2800" dirty="0"/>
              <a:t>Simplifica o design e facilita a adaptação para tarefas de visão com resoluções de entrada variáveis, sem a necessidade de </a:t>
            </a:r>
            <a:r>
              <a:rPr lang="pt-BR" sz="2800" dirty="0" err="1"/>
              <a:t>re-projeto</a:t>
            </a:r>
            <a:r>
              <a:rPr lang="pt-BR" sz="2800" dirty="0"/>
              <a:t> do </a:t>
            </a:r>
            <a:r>
              <a:rPr lang="pt-BR" sz="2800" dirty="0" err="1"/>
              <a:t>embedding</a:t>
            </a:r>
            <a:r>
              <a:rPr lang="pt-BR" sz="2800" dirty="0"/>
              <a:t>.</a:t>
            </a:r>
          </a:p>
          <a:p>
            <a:r>
              <a:rPr lang="pt-BR" b="1" dirty="0">
                <a:solidFill>
                  <a:srgbClr val="7030A0"/>
                </a:solidFill>
              </a:rPr>
              <a:t>Estrutura Hierárquica e Representação Rica:</a:t>
            </a:r>
            <a:r>
              <a:rPr lang="pt-BR" dirty="0">
                <a:solidFill>
                  <a:srgbClr val="7030A0"/>
                </a:solidFill>
              </a:rPr>
              <a:t> </a:t>
            </a:r>
            <a:r>
              <a:rPr lang="pt-BR" dirty="0"/>
              <a:t>O design </a:t>
            </a:r>
            <a:r>
              <a:rPr lang="pt-BR" dirty="0" err="1"/>
              <a:t>multiestágio</a:t>
            </a:r>
            <a:r>
              <a:rPr lang="pt-BR" dirty="0"/>
              <a:t> com convoluções permite </a:t>
            </a:r>
            <a:r>
              <a:rPr lang="pt-BR" dirty="0" err="1"/>
              <a:t>downsampling</a:t>
            </a:r>
            <a:r>
              <a:rPr lang="pt-BR" dirty="0"/>
              <a:t> espacial e o aprendizado de padrões visuais mais complexos em áreas espaciais maiores, similar às camadas de características das </a:t>
            </a:r>
            <a:r>
              <a:rPr lang="pt-BR" dirty="0" err="1"/>
              <a:t>CNNs</a:t>
            </a:r>
            <a:r>
              <a:rPr lang="pt-BR" dirty="0"/>
              <a:t>.</a:t>
            </a:r>
          </a:p>
          <a:p>
            <a:r>
              <a:rPr lang="pt-BR" b="1" dirty="0">
                <a:solidFill>
                  <a:schemeClr val="accent4"/>
                </a:solidFill>
              </a:rPr>
              <a:t>Convergência Rápida:</a:t>
            </a:r>
            <a:r>
              <a:rPr lang="pt-BR" dirty="0">
                <a:solidFill>
                  <a:schemeClr val="accent4"/>
                </a:solidFill>
              </a:rPr>
              <a:t> </a:t>
            </a:r>
            <a:r>
              <a:rPr lang="pt-BR" dirty="0"/>
              <a:t>Demonstra uma convergência significativamente mais rápida durante o treinamento em comparação com modelos </a:t>
            </a:r>
            <a:r>
              <a:rPr lang="pt-BR" dirty="0" err="1"/>
              <a:t>Transformer</a:t>
            </a:r>
            <a:r>
              <a:rPr lang="pt-BR" dirty="0"/>
              <a:t> originais.</a:t>
            </a:r>
          </a:p>
          <a:p>
            <a:endParaRPr lang="pt-BR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pt-BR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pt-BR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9953411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6B6C-459E-1B56-2AD5-509A8F71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B9C4C-9F21-9B97-EDFD-01876B0A8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72"/>
            <a:ext cx="10440000" cy="792000"/>
          </a:xfrm>
        </p:spPr>
        <p:txBody>
          <a:bodyPr/>
          <a:lstStyle/>
          <a:p>
            <a:r>
              <a:rPr lang="pt-BR" dirty="0"/>
              <a:t>RESULTADOS</a:t>
            </a:r>
            <a:endParaRPr lang="pt-BR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BF67C2-90E1-A95E-0193-F82FB1B41C6A}"/>
              </a:ext>
            </a:extLst>
          </p:cNvPr>
          <p:cNvSpPr txBox="1"/>
          <p:nvPr/>
        </p:nvSpPr>
        <p:spPr>
          <a:xfrm>
            <a:off x="243383" y="5460153"/>
            <a:ext cx="5852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Acurácia Top-1 no </a:t>
            </a:r>
            <a:r>
              <a:rPr lang="pt-BR" sz="1600" dirty="0" err="1"/>
              <a:t>ImageNet</a:t>
            </a:r>
            <a:r>
              <a:rPr lang="pt-BR" sz="1600" dirty="0"/>
              <a:t> validação comparada a outros métodos em relação aos parâmetros do modelo.</a:t>
            </a:r>
            <a:endParaRPr lang="pt-BR" sz="1600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13B31D-C71A-EB4C-F134-A80C955955D6}"/>
              </a:ext>
            </a:extLst>
          </p:cNvPr>
          <p:cNvSpPr txBox="1">
            <a:spLocks/>
          </p:cNvSpPr>
          <p:nvPr/>
        </p:nvSpPr>
        <p:spPr>
          <a:xfrm>
            <a:off x="6998677" y="1084465"/>
            <a:ext cx="4970584" cy="5163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dirty="0"/>
              <a:t>A Figura ilustra que a </a:t>
            </a:r>
            <a:r>
              <a:rPr lang="pt-BR" b="1" dirty="0"/>
              <a:t>introdução estratégica de convoluções</a:t>
            </a:r>
            <a:r>
              <a:rPr lang="pt-BR" dirty="0"/>
              <a:t> na arquitetura </a:t>
            </a:r>
            <a:r>
              <a:rPr lang="pt-BR" dirty="0" err="1"/>
              <a:t>Transformer</a:t>
            </a:r>
            <a:r>
              <a:rPr lang="pt-BR" dirty="0"/>
              <a:t> (</a:t>
            </a:r>
            <a:r>
              <a:rPr lang="pt-BR" dirty="0" err="1"/>
              <a:t>CvT</a:t>
            </a:r>
            <a:r>
              <a:rPr lang="pt-BR" dirty="0"/>
              <a:t>) permite combinar os melhores atributos das Redes Neurais Convolucionais (</a:t>
            </a:r>
            <a:r>
              <a:rPr lang="pt-BR" dirty="0" err="1"/>
              <a:t>CNNs</a:t>
            </a:r>
            <a:r>
              <a:rPr lang="pt-BR" dirty="0"/>
              <a:t>) e dos Transformers. Isso resulta em modelos que consistentemente atingem </a:t>
            </a:r>
            <a:r>
              <a:rPr lang="pt-BR" b="1" dirty="0"/>
              <a:t>maior acurácia Top-1</a:t>
            </a:r>
            <a:r>
              <a:rPr lang="pt-BR" dirty="0"/>
              <a:t> no </a:t>
            </a:r>
            <a:r>
              <a:rPr lang="pt-BR" dirty="0" err="1"/>
              <a:t>ImageNet</a:t>
            </a:r>
            <a:r>
              <a:rPr lang="pt-BR" dirty="0"/>
              <a:t> com </a:t>
            </a:r>
            <a:r>
              <a:rPr lang="pt-BR" b="1" dirty="0"/>
              <a:t>menos parâmetros e menores </a:t>
            </a:r>
            <a:r>
              <a:rPr lang="pt-BR" b="1" dirty="0" err="1"/>
              <a:t>FLOPs</a:t>
            </a:r>
            <a:r>
              <a:rPr lang="pt-BR" dirty="0"/>
              <a:t> (operações de ponto flutuante).</a:t>
            </a:r>
            <a:endParaRPr lang="pt-BR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pt-BR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pt-BR" noProof="0" dirty="0"/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EEF03CB-D47A-664E-37FF-8EEF2D22A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9" y="1295102"/>
            <a:ext cx="6163535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1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FF10F-418F-030F-3397-6AB6E05D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8685D-BC3C-703E-0006-84FAE71A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72"/>
            <a:ext cx="10440000" cy="792000"/>
          </a:xfrm>
        </p:spPr>
        <p:txBody>
          <a:bodyPr/>
          <a:lstStyle/>
          <a:p>
            <a:r>
              <a:rPr lang="pt-BR" dirty="0"/>
              <a:t>RESULTADOS</a:t>
            </a:r>
            <a:endParaRPr lang="pt-BR" noProof="0" dirty="0"/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8D9A772-2DC7-29F8-3342-A81496326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9" r="47174"/>
          <a:stretch>
            <a:fillRect/>
          </a:stretch>
        </p:blipFill>
        <p:spPr>
          <a:xfrm>
            <a:off x="8605280" y="0"/>
            <a:ext cx="2601976" cy="31626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6DA9C23-2BF9-3842-677A-6772FB87F356}"/>
              </a:ext>
            </a:extLst>
          </p:cNvPr>
          <p:cNvSpPr txBox="1"/>
          <p:nvPr/>
        </p:nvSpPr>
        <p:spPr>
          <a:xfrm>
            <a:off x="194001" y="2331655"/>
            <a:ext cx="7746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A. Desempenho em Grande Escala (Pré-treinamento no ImageNet-22k)</a:t>
            </a:r>
            <a:endParaRPr lang="es-BO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8FEC8B7-41F2-6A20-B91A-E939375F9C18}"/>
              </a:ext>
            </a:extLst>
          </p:cNvPr>
          <p:cNvSpPr txBox="1"/>
          <p:nvPr/>
        </p:nvSpPr>
        <p:spPr>
          <a:xfrm>
            <a:off x="8064795" y="3188405"/>
            <a:ext cx="40244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modelo </a:t>
            </a:r>
            <a:r>
              <a:rPr lang="pt-BR" sz="24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CvT</a:t>
            </a:r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pré</a:t>
            </a:r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-treinado no ImageNet-22k atinge uma acurácia Top-1 de </a:t>
            </a:r>
            <a:r>
              <a:rPr lang="pt-BR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87.7%</a:t>
            </a:r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Isso </a:t>
            </a:r>
            <a:r>
              <a:rPr lang="pt-BR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supera em 2.5%</a:t>
            </a:r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desempenho do </a:t>
            </a:r>
            <a:r>
              <a:rPr lang="pt-BR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ViT</a:t>
            </a:r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-L/16 e é mais preciso que o </a:t>
            </a:r>
            <a:r>
              <a:rPr lang="pt-BR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BiT</a:t>
            </a:r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-M, mas o </a:t>
            </a:r>
            <a:r>
              <a:rPr lang="pt-BR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CvT</a:t>
            </a:r>
            <a:r>
              <a:rPr lang="pt-BR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faz usando significativamente menos parâmetros. </a:t>
            </a:r>
            <a:endParaRPr lang="es-BO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9C0C1C6-18AF-B8D6-45D6-806264B5D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5" y="3188405"/>
            <a:ext cx="7995070" cy="307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2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B12A-5259-B01F-9F1C-202211D9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9B827-4A2F-0ECB-386E-C603F707E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72"/>
            <a:ext cx="10440000" cy="792000"/>
          </a:xfrm>
        </p:spPr>
        <p:txBody>
          <a:bodyPr/>
          <a:lstStyle/>
          <a:p>
            <a:r>
              <a:rPr lang="pt-BR" dirty="0"/>
              <a:t>RESULTADOS</a:t>
            </a:r>
            <a:endParaRPr lang="pt-BR" noProof="0" dirty="0"/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FE55106-F9CA-05E4-9656-40017DC8E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8" t="7269"/>
          <a:stretch>
            <a:fillRect/>
          </a:stretch>
        </p:blipFill>
        <p:spPr>
          <a:xfrm>
            <a:off x="8874371" y="0"/>
            <a:ext cx="2452506" cy="31626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0CEC163-392B-B373-306D-84EB8C1AD7CB}"/>
              </a:ext>
            </a:extLst>
          </p:cNvPr>
          <p:cNvSpPr txBox="1"/>
          <p:nvPr/>
        </p:nvSpPr>
        <p:spPr>
          <a:xfrm>
            <a:off x="194001" y="2331655"/>
            <a:ext cx="7746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B. Comparação com Trabalhos Concorrentes (Pré-treinamento no ImageNet-1k)</a:t>
            </a:r>
            <a:endParaRPr lang="es-BO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8783BF-1F95-DD91-8ECC-CD4987387D1D}"/>
              </a:ext>
            </a:extLst>
          </p:cNvPr>
          <p:cNvSpPr txBox="1"/>
          <p:nvPr/>
        </p:nvSpPr>
        <p:spPr>
          <a:xfrm>
            <a:off x="8064795" y="3188405"/>
            <a:ext cx="40244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CvT-21 vs. </a:t>
            </a:r>
            <a:r>
              <a:rPr lang="pt-BR" b="1" dirty="0" err="1"/>
              <a:t>DeiT</a:t>
            </a:r>
            <a:r>
              <a:rPr lang="pt-BR" b="1" dirty="0"/>
              <a:t>-B:</a:t>
            </a:r>
            <a:r>
              <a:rPr lang="pt-BR" dirty="0"/>
              <a:t> O CvT-21 supera o </a:t>
            </a:r>
            <a:r>
              <a:rPr lang="pt-BR" dirty="0" err="1"/>
              <a:t>DeiT</a:t>
            </a:r>
            <a:r>
              <a:rPr lang="pt-BR" dirty="0"/>
              <a:t>-B em 0.7 pontos percentuais (82.5% vs. 81.8%), utilizando uma </a:t>
            </a:r>
            <a:r>
              <a:rPr lang="pt-BR" b="1" dirty="0"/>
              <a:t>redução de 63% nos parâmetros</a:t>
            </a:r>
            <a:r>
              <a:rPr lang="pt-BR" dirty="0"/>
              <a:t> e uma </a:t>
            </a:r>
            <a:r>
              <a:rPr lang="pt-BR" b="1" dirty="0"/>
              <a:t>redução de 60% nos </a:t>
            </a:r>
            <a:r>
              <a:rPr lang="pt-BR" b="1" dirty="0" err="1"/>
              <a:t>FLOPs</a:t>
            </a:r>
            <a:r>
              <a:rPr lang="pt-BR" dirty="0"/>
              <a:t>.</a:t>
            </a:r>
            <a:endParaRPr lang="es-BO" dirty="0"/>
          </a:p>
          <a:p>
            <a:pPr lvl="0"/>
            <a:r>
              <a:rPr lang="pt-BR" b="1" dirty="0"/>
              <a:t>Modelos Leves:</a:t>
            </a:r>
            <a:r>
              <a:rPr lang="pt-BR" dirty="0"/>
              <a:t> O modelo mais leve, </a:t>
            </a:r>
            <a:r>
              <a:rPr lang="pt-BR" b="1" dirty="0"/>
              <a:t>CvT-13</a:t>
            </a:r>
            <a:r>
              <a:rPr lang="pt-BR" dirty="0"/>
              <a:t> (20 M de parâmetros), alcança 81.6% de acurácia Top-1, superando trabalhos concorrentes como PVT-</a:t>
            </a:r>
            <a:r>
              <a:rPr lang="pt-BR" dirty="0" err="1"/>
              <a:t>Small</a:t>
            </a:r>
            <a:r>
              <a:rPr lang="pt-BR" dirty="0"/>
              <a:t>, T2T-ViTt-14 e TNT-S por 1.7%, 0.8% e 0.2% respectivamente.</a:t>
            </a:r>
            <a:endParaRPr lang="es-B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728297F-4E14-0178-3498-259EDEBA2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370521"/>
            <a:ext cx="8155173" cy="282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0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DFB5-0065-9137-088A-3E5A3AFC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E99C9-7F2B-1F8D-BF66-B7140282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>
            <a:normAutofit fontScale="90000"/>
          </a:bodyPr>
          <a:lstStyle/>
          <a:p>
            <a:r>
              <a:rPr lang="pt-BR" dirty="0"/>
              <a:t>Comparativo: </a:t>
            </a:r>
            <a:r>
              <a:rPr lang="pt-BR" dirty="0" err="1"/>
              <a:t>CvT</a:t>
            </a:r>
            <a:r>
              <a:rPr lang="pt-BR" dirty="0"/>
              <a:t> vs. Outras Arquiteturas Híbridas</a:t>
            </a:r>
            <a:endParaRPr lang="pt-BR" noProof="0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9F68C05-8AC4-46A5-5A47-2F6A43BC84B8}"/>
              </a:ext>
            </a:extLst>
          </p:cNvPr>
          <p:cNvSpPr txBox="1">
            <a:spLocks/>
          </p:cNvSpPr>
          <p:nvPr/>
        </p:nvSpPr>
        <p:spPr>
          <a:xfrm>
            <a:off x="128954" y="1145763"/>
            <a:ext cx="10873153" cy="94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pt-BR" dirty="0"/>
              <a:t>Comparativo Essencial</a:t>
            </a:r>
            <a:endParaRPr lang="pt-BR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168EE1F-2296-3EBB-8EB9-E018DB1C4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03" y="2085787"/>
            <a:ext cx="11963797" cy="32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7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960A-E742-66EE-604B-86C579DB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2698B-EFED-4F34-A3A3-0B6B1CDA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72"/>
            <a:ext cx="10440000" cy="792000"/>
          </a:xfrm>
        </p:spPr>
        <p:txBody>
          <a:bodyPr/>
          <a:lstStyle/>
          <a:p>
            <a:r>
              <a:rPr lang="pt-BR" dirty="0"/>
              <a:t>RESULTADOS</a:t>
            </a:r>
            <a:endParaRPr lang="pt-BR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A13B30-A498-4716-84C3-333D24C532BD}"/>
              </a:ext>
            </a:extLst>
          </p:cNvPr>
          <p:cNvSpPr txBox="1"/>
          <p:nvPr/>
        </p:nvSpPr>
        <p:spPr>
          <a:xfrm>
            <a:off x="222738" y="1595021"/>
            <a:ext cx="11969261" cy="420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>
                <a:latin typeface="Arial" panose="020B0604020202020204" pitchFamily="34" charset="0"/>
              </a:rPr>
              <a:t>DETR (</a:t>
            </a:r>
            <a:r>
              <a:rPr lang="es-BO" altLang="es-BO" b="1" dirty="0" err="1">
                <a:latin typeface="Arial" panose="020B0604020202020204" pitchFamily="34" charset="0"/>
              </a:rPr>
              <a:t>Detection</a:t>
            </a:r>
            <a:r>
              <a:rPr lang="es-BO" altLang="es-BO" b="1" dirty="0">
                <a:latin typeface="Arial" panose="020B0604020202020204" pitchFamily="34" charset="0"/>
              </a:rPr>
              <a:t> </a:t>
            </a:r>
            <a:r>
              <a:rPr lang="es-BO" altLang="es-BO" b="1" dirty="0" err="1">
                <a:latin typeface="Arial" panose="020B0604020202020204" pitchFamily="34" charset="0"/>
              </a:rPr>
              <a:t>Transformer</a:t>
            </a:r>
            <a:r>
              <a:rPr lang="es-BO" altLang="es-BO" b="1" dirty="0">
                <a:latin typeface="Arial" panose="020B0604020202020204" pitchFamily="34" charset="0"/>
              </a:rPr>
              <a:t>):</a:t>
            </a:r>
            <a:r>
              <a:rPr lang="es-BO" altLang="es-BO" dirty="0">
                <a:latin typeface="Arial" panose="020B0604020202020204" pitchFamily="34" charset="0"/>
              </a:rPr>
              <a:t> Utiliza </a:t>
            </a:r>
            <a:r>
              <a:rPr lang="es-BO" altLang="es-BO" dirty="0" err="1">
                <a:latin typeface="Arial" panose="020B0604020202020204" pitchFamily="34" charset="0"/>
              </a:rPr>
              <a:t>uma</a:t>
            </a:r>
            <a:r>
              <a:rPr lang="es-BO" altLang="es-BO" dirty="0">
                <a:latin typeface="Arial" panose="020B0604020202020204" pitchFamily="34" charset="0"/>
              </a:rPr>
              <a:t> CNN como </a:t>
            </a:r>
            <a:r>
              <a:rPr lang="es-BO" altLang="es-BO" dirty="0" err="1">
                <a:latin typeface="Arial" panose="020B0604020202020204" pitchFamily="34" charset="0"/>
              </a:rPr>
              <a:t>backbone</a:t>
            </a:r>
            <a:r>
              <a:rPr lang="es-BO" altLang="es-BO" dirty="0">
                <a:latin typeface="Arial" panose="020B0604020202020204" pitchFamily="34" charset="0"/>
              </a:rPr>
              <a:t> para </a:t>
            </a:r>
            <a:r>
              <a:rPr lang="es-BO" altLang="es-BO" dirty="0" err="1">
                <a:latin typeface="Arial" panose="020B0604020202020204" pitchFamily="34" charset="0"/>
              </a:rPr>
              <a:t>extrair</a:t>
            </a:r>
            <a:r>
              <a:rPr lang="es-BO" altLang="es-BO" dirty="0">
                <a:latin typeface="Arial" panose="020B0604020202020204" pitchFamily="34" charset="0"/>
              </a:rPr>
              <a:t> mapas de características antes de alimentar </a:t>
            </a:r>
            <a:r>
              <a:rPr lang="es-BO" altLang="es-BO" dirty="0" err="1">
                <a:latin typeface="Arial" panose="020B0604020202020204" pitchFamily="34" charset="0"/>
              </a:rPr>
              <a:t>um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encoder-decoder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Transformer</a:t>
            </a:r>
            <a:r>
              <a:rPr lang="es-BO" altLang="es-BO" dirty="0">
                <a:latin typeface="Arial" panose="020B0604020202020204" pitchFamily="34" charset="0"/>
              </a:rPr>
              <a:t> para </a:t>
            </a:r>
            <a:r>
              <a:rPr lang="es-BO" altLang="es-BO" dirty="0" err="1">
                <a:latin typeface="Arial" panose="020B0604020202020204" pitchFamily="34" charset="0"/>
              </a:rPr>
              <a:t>detecção</a:t>
            </a:r>
            <a:r>
              <a:rPr lang="es-BO" altLang="es-BO" dirty="0">
                <a:latin typeface="Arial" panose="020B0604020202020204" pitchFamily="34" charset="0"/>
              </a:rPr>
              <a:t> de objetos.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>
                <a:latin typeface="Arial" panose="020B0604020202020204" pitchFamily="34" charset="0"/>
              </a:rPr>
              <a:t>PVT (</a:t>
            </a:r>
            <a:r>
              <a:rPr lang="es-BO" altLang="es-BO" b="1" dirty="0" err="1">
                <a:latin typeface="Arial" panose="020B0604020202020204" pitchFamily="34" charset="0"/>
              </a:rPr>
              <a:t>Pyramid</a:t>
            </a:r>
            <a:r>
              <a:rPr lang="es-BO" altLang="es-BO" b="1" dirty="0">
                <a:latin typeface="Arial" panose="020B0604020202020204" pitchFamily="34" charset="0"/>
              </a:rPr>
              <a:t> Vision </a:t>
            </a:r>
            <a:r>
              <a:rPr lang="es-BO" altLang="es-BO" b="1" dirty="0" err="1">
                <a:latin typeface="Arial" panose="020B0604020202020204" pitchFamily="34" charset="0"/>
              </a:rPr>
              <a:t>Transformer</a:t>
            </a:r>
            <a:r>
              <a:rPr lang="es-BO" altLang="es-BO" b="1" dirty="0">
                <a:latin typeface="Arial" panose="020B0604020202020204" pitchFamily="34" charset="0"/>
              </a:rPr>
              <a:t>):</a:t>
            </a:r>
            <a:r>
              <a:rPr lang="es-BO" altLang="es-BO" dirty="0">
                <a:latin typeface="Arial" panose="020B0604020202020204" pitchFamily="34" charset="0"/>
              </a:rPr>
              <a:t> Incorpora </a:t>
            </a:r>
            <a:r>
              <a:rPr lang="es-BO" altLang="es-BO" dirty="0" err="1">
                <a:latin typeface="Arial" panose="020B0604020202020204" pitchFamily="34" charset="0"/>
              </a:rPr>
              <a:t>uma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estrutura</a:t>
            </a:r>
            <a:r>
              <a:rPr lang="es-BO" altLang="es-BO" dirty="0">
                <a:latin typeface="Arial" panose="020B0604020202020204" pitchFamily="34" charset="0"/>
              </a:rPr>
              <a:t> piramidal </a:t>
            </a:r>
            <a:r>
              <a:rPr lang="es-BO" altLang="es-BO" dirty="0" err="1">
                <a:latin typeface="Arial" panose="020B0604020202020204" pitchFamily="34" charset="0"/>
              </a:rPr>
              <a:t>multiestágio</a:t>
            </a:r>
            <a:r>
              <a:rPr lang="es-BO" altLang="es-BO" dirty="0">
                <a:latin typeface="Arial" panose="020B0604020202020204" pitchFamily="34" charset="0"/>
              </a:rPr>
              <a:t>, </a:t>
            </a:r>
            <a:r>
              <a:rPr lang="es-BO" altLang="es-BO" dirty="0" err="1">
                <a:latin typeface="Arial" panose="020B0604020202020204" pitchFamily="34" charset="0"/>
              </a:rPr>
              <a:t>semelhante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às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CNNs</a:t>
            </a:r>
            <a:r>
              <a:rPr lang="es-BO" altLang="es-BO" dirty="0">
                <a:latin typeface="Arial" panose="020B0604020202020204" pitchFamily="34" charset="0"/>
              </a:rPr>
              <a:t>, para </a:t>
            </a:r>
            <a:r>
              <a:rPr lang="es-BO" altLang="es-BO" dirty="0" err="1">
                <a:latin typeface="Arial" panose="020B0604020202020204" pitchFamily="34" charset="0"/>
              </a:rPr>
              <a:t>lidar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com</a:t>
            </a:r>
            <a:r>
              <a:rPr lang="es-BO" altLang="es-BO" dirty="0">
                <a:latin typeface="Arial" panose="020B0604020202020204" pitchFamily="34" charset="0"/>
              </a:rPr>
              <a:t> mapas de características de alta </a:t>
            </a:r>
            <a:r>
              <a:rPr lang="es-BO" altLang="es-BO" dirty="0" err="1">
                <a:latin typeface="Arial" panose="020B0604020202020204" pitchFamily="34" charset="0"/>
              </a:rPr>
              <a:t>resolução</a:t>
            </a:r>
            <a:r>
              <a:rPr lang="es-BO" altLang="es-BO" dirty="0">
                <a:latin typeface="Arial" panose="020B0604020202020204" pitchFamily="34" charset="0"/>
              </a:rPr>
              <a:t>, usando </a:t>
            </a:r>
            <a:r>
              <a:rPr lang="es-BO" altLang="es-BO" dirty="0" err="1">
                <a:latin typeface="Arial" panose="020B0604020202020204" pitchFamily="34" charset="0"/>
              </a:rPr>
              <a:t>um</a:t>
            </a:r>
            <a:r>
              <a:rPr lang="es-BO" altLang="es-BO" dirty="0">
                <a:latin typeface="Arial" panose="020B0604020202020204" pitchFamily="34" charset="0"/>
              </a:rPr>
              <a:t> módulo de </a:t>
            </a:r>
            <a:r>
              <a:rPr lang="es-BO" altLang="es-BO" i="1" dirty="0" err="1">
                <a:latin typeface="Arial" panose="020B0604020202020204" pitchFamily="34" charset="0"/>
              </a:rPr>
              <a:t>spatial-reduction</a:t>
            </a:r>
            <a:r>
              <a:rPr lang="es-BO" altLang="es-BO" i="1" dirty="0">
                <a:latin typeface="Arial" panose="020B0604020202020204" pitchFamily="34" charset="0"/>
              </a:rPr>
              <a:t> </a:t>
            </a:r>
            <a:r>
              <a:rPr lang="es-BO" altLang="es-BO" i="1" dirty="0" err="1">
                <a:latin typeface="Arial" panose="020B0604020202020204" pitchFamily="34" charset="0"/>
              </a:rPr>
              <a:t>attention</a:t>
            </a:r>
            <a:r>
              <a:rPr lang="es-BO" altLang="es-BO" dirty="0">
                <a:latin typeface="Arial" panose="020B0604020202020204" pitchFamily="34" charset="0"/>
              </a:rPr>
              <a:t> (SRA).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 err="1">
                <a:latin typeface="Arial" panose="020B0604020202020204" pitchFamily="34" charset="0"/>
              </a:rPr>
              <a:t>Conformer</a:t>
            </a:r>
            <a:r>
              <a:rPr lang="es-BO" altLang="es-BO" b="1" dirty="0">
                <a:latin typeface="Arial" panose="020B0604020202020204" pitchFamily="34" charset="0"/>
              </a:rPr>
              <a:t>:</a:t>
            </a:r>
            <a:r>
              <a:rPr lang="es-BO" altLang="es-BO" dirty="0">
                <a:latin typeface="Arial" panose="020B0604020202020204" pitchFamily="34" charset="0"/>
              </a:rPr>
              <a:t> Combina ramos separados de CNN (para </a:t>
            </a:r>
            <a:r>
              <a:rPr lang="es-BO" altLang="es-BO" dirty="0" err="1">
                <a:latin typeface="Arial" panose="020B0604020202020204" pitchFamily="34" charset="0"/>
              </a:rPr>
              <a:t>percepção</a:t>
            </a:r>
            <a:r>
              <a:rPr lang="es-BO" altLang="es-BO" dirty="0">
                <a:latin typeface="Arial" panose="020B0604020202020204" pitchFamily="34" charset="0"/>
              </a:rPr>
              <a:t> local) e </a:t>
            </a:r>
            <a:r>
              <a:rPr lang="es-BO" altLang="es-BO" dirty="0" err="1">
                <a:latin typeface="Arial" panose="020B0604020202020204" pitchFamily="34" charset="0"/>
              </a:rPr>
              <a:t>Transformer</a:t>
            </a:r>
            <a:r>
              <a:rPr lang="es-BO" altLang="es-BO" dirty="0">
                <a:latin typeface="Arial" panose="020B0604020202020204" pitchFamily="34" charset="0"/>
              </a:rPr>
              <a:t> (para características </a:t>
            </a:r>
            <a:r>
              <a:rPr lang="es-BO" altLang="es-BO" dirty="0" err="1">
                <a:latin typeface="Arial" panose="020B0604020202020204" pitchFamily="34" charset="0"/>
              </a:rPr>
              <a:t>globais</a:t>
            </a:r>
            <a:r>
              <a:rPr lang="es-BO" altLang="es-BO" dirty="0">
                <a:latin typeface="Arial" panose="020B0604020202020204" pitchFamily="34" charset="0"/>
              </a:rPr>
              <a:t>), </a:t>
            </a:r>
            <a:r>
              <a:rPr lang="es-BO" altLang="es-BO" dirty="0" err="1">
                <a:latin typeface="Arial" panose="020B0604020202020204" pitchFamily="34" charset="0"/>
              </a:rPr>
              <a:t>com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conexões</a:t>
            </a:r>
            <a:r>
              <a:rPr lang="es-BO" altLang="es-BO" dirty="0">
                <a:latin typeface="Arial" panose="020B0604020202020204" pitchFamily="34" charset="0"/>
              </a:rPr>
              <a:t> entre eles.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 err="1">
                <a:latin typeface="Arial" panose="020B0604020202020204" pitchFamily="34" charset="0"/>
              </a:rPr>
              <a:t>MaxViT</a:t>
            </a:r>
            <a:r>
              <a:rPr lang="es-BO" altLang="es-BO" b="1" dirty="0">
                <a:latin typeface="Arial" panose="020B0604020202020204" pitchFamily="34" charset="0"/>
              </a:rPr>
              <a:t> (Multi-Axis </a:t>
            </a:r>
            <a:r>
              <a:rPr lang="es-BO" altLang="es-BO" b="1" dirty="0" err="1">
                <a:latin typeface="Arial" panose="020B0604020202020204" pitchFamily="34" charset="0"/>
              </a:rPr>
              <a:t>Attention-based</a:t>
            </a:r>
            <a:r>
              <a:rPr lang="es-BO" altLang="es-BO" b="1" dirty="0">
                <a:latin typeface="Arial" panose="020B0604020202020204" pitchFamily="34" charset="0"/>
              </a:rPr>
              <a:t> Vision </a:t>
            </a:r>
            <a:r>
              <a:rPr lang="es-BO" altLang="es-BO" b="1" dirty="0" err="1">
                <a:latin typeface="Arial" panose="020B0604020202020204" pitchFamily="34" charset="0"/>
              </a:rPr>
              <a:t>Transformer</a:t>
            </a:r>
            <a:r>
              <a:rPr lang="es-BO" altLang="es-BO" b="1" dirty="0">
                <a:latin typeface="Arial" panose="020B0604020202020204" pitchFamily="34" charset="0"/>
              </a:rPr>
              <a:t>):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Adota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uma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estrutura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hierárquica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com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blocos</a:t>
            </a:r>
            <a:r>
              <a:rPr lang="es-BO" altLang="es-BO" dirty="0">
                <a:latin typeface="Arial" panose="020B0604020202020204" pitchFamily="34" charset="0"/>
              </a:rPr>
              <a:t> híbridos que </a:t>
            </a:r>
            <a:r>
              <a:rPr lang="es-BO" altLang="es-BO" dirty="0" err="1">
                <a:latin typeface="Arial" panose="020B0604020202020204" pitchFamily="34" charset="0"/>
              </a:rPr>
              <a:t>consistem</a:t>
            </a:r>
            <a:r>
              <a:rPr lang="es-BO" altLang="es-BO" dirty="0">
                <a:latin typeface="Arial" panose="020B0604020202020204" pitchFamily="34" charset="0"/>
              </a:rPr>
              <a:t> em </a:t>
            </a:r>
            <a:r>
              <a:rPr lang="es-BO" altLang="es-BO" dirty="0" err="1">
                <a:latin typeface="Arial" panose="020B0604020202020204" pitchFamily="34" charset="0"/>
              </a:rPr>
              <a:t>convoluções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MBConv</a:t>
            </a:r>
            <a:r>
              <a:rPr lang="es-BO" altLang="es-BO" dirty="0">
                <a:latin typeface="Arial" panose="020B0604020202020204" pitchFamily="34" charset="0"/>
              </a:rPr>
              <a:t> e </a:t>
            </a:r>
            <a:r>
              <a:rPr lang="es-BO" altLang="es-BO" dirty="0" err="1">
                <a:latin typeface="Arial" panose="020B0604020202020204" pitchFamily="34" charset="0"/>
              </a:rPr>
              <a:t>atenção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multi-eixo</a:t>
            </a:r>
            <a:r>
              <a:rPr lang="es-BO" altLang="es-BO" dirty="0">
                <a:latin typeface="Arial" panose="020B0604020202020204" pitchFamily="34" charset="0"/>
              </a:rPr>
              <a:t> (local e global).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 err="1">
                <a:latin typeface="Arial" panose="020B0604020202020204" pitchFamily="34" charset="0"/>
              </a:rPr>
              <a:t>CeiT</a:t>
            </a:r>
            <a:r>
              <a:rPr lang="es-BO" altLang="es-BO" b="1" dirty="0">
                <a:latin typeface="Arial" panose="020B0604020202020204" pitchFamily="34" charset="0"/>
              </a:rPr>
              <a:t> (</a:t>
            </a:r>
            <a:r>
              <a:rPr lang="es-BO" altLang="es-BO" b="1" dirty="0" err="1">
                <a:latin typeface="Arial" panose="020B0604020202020204" pitchFamily="34" charset="0"/>
              </a:rPr>
              <a:t>Convolution-enhanced</a:t>
            </a:r>
            <a:r>
              <a:rPr lang="es-BO" altLang="es-BO" b="1" dirty="0">
                <a:latin typeface="Arial" panose="020B0604020202020204" pitchFamily="34" charset="0"/>
              </a:rPr>
              <a:t> </a:t>
            </a:r>
            <a:r>
              <a:rPr lang="es-BO" altLang="es-BO" b="1" dirty="0" err="1">
                <a:latin typeface="Arial" panose="020B0604020202020204" pitchFamily="34" charset="0"/>
              </a:rPr>
              <a:t>Image</a:t>
            </a:r>
            <a:r>
              <a:rPr lang="es-BO" altLang="es-BO" b="1" dirty="0">
                <a:latin typeface="Arial" panose="020B0604020202020204" pitchFamily="34" charset="0"/>
              </a:rPr>
              <a:t> </a:t>
            </a:r>
            <a:r>
              <a:rPr lang="es-BO" altLang="es-BO" b="1" dirty="0" err="1">
                <a:latin typeface="Arial" panose="020B0604020202020204" pitchFamily="34" charset="0"/>
              </a:rPr>
              <a:t>Transformer</a:t>
            </a:r>
            <a:r>
              <a:rPr lang="es-BO" altLang="es-BO" b="1" dirty="0">
                <a:latin typeface="Arial" panose="020B0604020202020204" pitchFamily="34" charset="0"/>
              </a:rPr>
              <a:t>):</a:t>
            </a:r>
            <a:r>
              <a:rPr lang="es-BO" altLang="es-BO" dirty="0">
                <a:latin typeface="Arial" panose="020B0604020202020204" pitchFamily="34" charset="0"/>
              </a:rPr>
              <a:t> Modifica o esquema de </a:t>
            </a:r>
            <a:r>
              <a:rPr lang="es-BO" altLang="es-BO" dirty="0" err="1">
                <a:latin typeface="Arial" panose="020B0604020202020204" pitchFamily="34" charset="0"/>
              </a:rPr>
              <a:t>extração</a:t>
            </a:r>
            <a:r>
              <a:rPr lang="es-BO" altLang="es-BO" dirty="0">
                <a:latin typeface="Arial" panose="020B0604020202020204" pitchFamily="34" charset="0"/>
              </a:rPr>
              <a:t> de </a:t>
            </a:r>
            <a:r>
              <a:rPr lang="es-BO" altLang="es-BO" dirty="0" err="1">
                <a:latin typeface="Arial" panose="020B0604020202020204" pitchFamily="34" charset="0"/>
              </a:rPr>
              <a:t>patches</a:t>
            </a:r>
            <a:r>
              <a:rPr lang="es-BO" altLang="es-BO" dirty="0">
                <a:latin typeface="Arial" panose="020B0604020202020204" pitchFamily="34" charset="0"/>
              </a:rPr>
              <a:t>, a camada MLP e adiciona </a:t>
            </a:r>
            <a:r>
              <a:rPr lang="es-BO" altLang="es-BO" dirty="0" err="1">
                <a:latin typeface="Arial" panose="020B0604020202020204" pitchFamily="34" charset="0"/>
              </a:rPr>
              <a:t>uma</a:t>
            </a:r>
            <a:r>
              <a:rPr lang="es-BO" altLang="es-BO" dirty="0">
                <a:latin typeface="Arial" panose="020B0604020202020204" pitchFamily="34" charset="0"/>
              </a:rPr>
              <a:t> camada convolucional final para </a:t>
            </a:r>
            <a:r>
              <a:rPr lang="es-BO" altLang="es-BO" dirty="0" err="1">
                <a:latin typeface="Arial" panose="020B0604020202020204" pitchFamily="34" charset="0"/>
              </a:rPr>
              <a:t>melhor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desempenho</a:t>
            </a:r>
            <a:r>
              <a:rPr lang="es-BO" altLang="es-BO" dirty="0">
                <a:latin typeface="Arial" panose="020B0604020202020204" pitchFamily="34" charset="0"/>
              </a:rPr>
              <a:t>.</a:t>
            </a:r>
            <a:endParaRPr lang="pt-BR" noProof="0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D9FAFD-5D44-7535-0321-E578ABFF4059}"/>
              </a:ext>
            </a:extLst>
          </p:cNvPr>
          <p:cNvSpPr txBox="1">
            <a:spLocks/>
          </p:cNvSpPr>
          <p:nvPr/>
        </p:nvSpPr>
        <p:spPr>
          <a:xfrm>
            <a:off x="222739" y="1011496"/>
            <a:ext cx="11746522" cy="500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Outros </a:t>
            </a:r>
            <a:r>
              <a:rPr lang="pt-BR" dirty="0" err="1"/>
              <a:t>ViTs</a:t>
            </a:r>
            <a:r>
              <a:rPr lang="pt-BR" dirty="0"/>
              <a:t> Híbridos (Exemplos)</a:t>
            </a:r>
            <a:endParaRPr lang="pt-BR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pt-BR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pt-BR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893227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8980B4D-2CA7-115C-1C93-980FC59FEB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8255"/>
            <a:ext cx="10440000" cy="7920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Exemplo(s) de aplicação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D8A49F87-EDE6-E70D-42C3-4DE6B6DE9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2563"/>
            <a:ext cx="11720804" cy="611099"/>
          </a:xfrm>
        </p:spPr>
        <p:txBody>
          <a:bodyPr/>
          <a:lstStyle/>
          <a:p>
            <a:r>
              <a:rPr lang="pt-BR" dirty="0"/>
              <a:t>Aplicações em Visão Computacional</a:t>
            </a:r>
            <a:endParaRPr lang="pt-BR" noProof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3B2288-0BF9-29F4-0ECD-3335E24C1232}"/>
              </a:ext>
            </a:extLst>
          </p:cNvPr>
          <p:cNvSpPr txBox="1">
            <a:spLocks/>
          </p:cNvSpPr>
          <p:nvPr/>
        </p:nvSpPr>
        <p:spPr>
          <a:xfrm>
            <a:off x="141813" y="1335403"/>
            <a:ext cx="11720804" cy="4174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 err="1">
                <a:latin typeface="Arial" panose="020B0604020202020204" pitchFamily="34" charset="0"/>
              </a:rPr>
              <a:t>Backbone</a:t>
            </a:r>
            <a:r>
              <a:rPr lang="es-BO" altLang="es-BO" b="1" dirty="0">
                <a:latin typeface="Arial" panose="020B0604020202020204" pitchFamily="34" charset="0"/>
              </a:rPr>
              <a:t> Versátil:</a:t>
            </a:r>
            <a:r>
              <a:rPr lang="es-BO" altLang="es-BO" dirty="0">
                <a:latin typeface="Arial" panose="020B0604020202020204" pitchFamily="34" charset="0"/>
              </a:rPr>
              <a:t> O </a:t>
            </a:r>
            <a:r>
              <a:rPr lang="es-BO" altLang="es-BO" dirty="0" err="1">
                <a:latin typeface="Arial" panose="020B0604020202020204" pitchFamily="34" charset="0"/>
              </a:rPr>
              <a:t>CvT</a:t>
            </a:r>
            <a:r>
              <a:rPr lang="es-BO" altLang="es-BO" dirty="0">
                <a:latin typeface="Arial" panose="020B0604020202020204" pitchFamily="34" charset="0"/>
              </a:rPr>
              <a:t> serve como </a:t>
            </a:r>
            <a:r>
              <a:rPr lang="es-BO" altLang="es-BO" dirty="0" err="1">
                <a:latin typeface="Arial" panose="020B0604020202020204" pitchFamily="34" charset="0"/>
              </a:rPr>
              <a:t>um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backbone</a:t>
            </a:r>
            <a:r>
              <a:rPr lang="es-BO" altLang="es-BO" dirty="0">
                <a:latin typeface="Arial" panose="020B0604020202020204" pitchFamily="34" charset="0"/>
              </a:rPr>
              <a:t> robusto e eficiente para </a:t>
            </a:r>
            <a:r>
              <a:rPr lang="es-BO" altLang="es-BO" dirty="0" err="1">
                <a:latin typeface="Arial" panose="020B0604020202020204" pitchFamily="34" charset="0"/>
              </a:rPr>
              <a:t>uma</a:t>
            </a:r>
            <a:r>
              <a:rPr lang="es-BO" altLang="es-BO" dirty="0">
                <a:latin typeface="Arial" panose="020B0604020202020204" pitchFamily="34" charset="0"/>
              </a:rPr>
              <a:t> ampla gama de tarefas de </a:t>
            </a:r>
            <a:r>
              <a:rPr lang="es-BO" altLang="es-BO" dirty="0" err="1">
                <a:latin typeface="Arial" panose="020B0604020202020204" pitchFamily="34" charset="0"/>
              </a:rPr>
              <a:t>visão</a:t>
            </a:r>
            <a:r>
              <a:rPr lang="es-BO" altLang="es-BO" dirty="0">
                <a:latin typeface="Arial" panose="020B0604020202020204" pitchFamily="34" charset="0"/>
              </a:rPr>
              <a:t> computacional.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 err="1">
                <a:latin typeface="Arial" panose="020B0604020202020204" pitchFamily="34" charset="0"/>
              </a:rPr>
              <a:t>Classificação</a:t>
            </a:r>
            <a:r>
              <a:rPr lang="es-BO" altLang="es-BO" b="1" dirty="0">
                <a:latin typeface="Arial" panose="020B0604020202020204" pitchFamily="34" charset="0"/>
              </a:rPr>
              <a:t> de </a:t>
            </a:r>
            <a:r>
              <a:rPr lang="es-BO" altLang="es-BO" b="1" dirty="0" err="1">
                <a:latin typeface="Arial" panose="020B0604020202020204" pitchFamily="34" charset="0"/>
              </a:rPr>
              <a:t>Imagens</a:t>
            </a:r>
            <a:r>
              <a:rPr lang="es-BO" altLang="es-BO" b="1" dirty="0">
                <a:latin typeface="Arial" panose="020B0604020202020204" pitchFamily="34" charset="0"/>
              </a:rPr>
              <a:t>: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Sua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aplicação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primária</a:t>
            </a:r>
            <a:r>
              <a:rPr lang="es-BO" altLang="es-BO" dirty="0">
                <a:latin typeface="Arial" panose="020B0604020202020204" pitchFamily="34" charset="0"/>
              </a:rPr>
              <a:t> e onde </a:t>
            </a:r>
            <a:r>
              <a:rPr lang="es-BO" altLang="es-BO" dirty="0" err="1">
                <a:latin typeface="Arial" panose="020B0604020202020204" pitchFamily="34" charset="0"/>
              </a:rPr>
              <a:t>demonstrou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desempenho</a:t>
            </a:r>
            <a:r>
              <a:rPr lang="es-BO" altLang="es-BO" dirty="0">
                <a:latin typeface="Arial" panose="020B0604020202020204" pitchFamily="34" charset="0"/>
              </a:rPr>
              <a:t> de </a:t>
            </a:r>
            <a:r>
              <a:rPr lang="es-BO" altLang="es-BO" dirty="0" err="1">
                <a:latin typeface="Arial" panose="020B0604020202020204" pitchFamily="34" charset="0"/>
              </a:rPr>
              <a:t>ponta</a:t>
            </a:r>
            <a:r>
              <a:rPr lang="es-BO" altLang="es-BO" dirty="0">
                <a:latin typeface="Arial" panose="020B0604020202020204" pitchFamily="34" charset="0"/>
              </a:rPr>
              <a:t> (ex: ImageNet-1k, ImageNet-22k).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BO" altLang="es-BO" b="1" dirty="0" err="1">
                <a:latin typeface="Arial" panose="020B0604020202020204" pitchFamily="34" charset="0"/>
              </a:rPr>
              <a:t>Detecção</a:t>
            </a:r>
            <a:r>
              <a:rPr lang="es-BO" altLang="es-BO" b="1" dirty="0">
                <a:latin typeface="Arial" panose="020B0604020202020204" pitchFamily="34" charset="0"/>
              </a:rPr>
              <a:t> de Objetos e </a:t>
            </a:r>
            <a:r>
              <a:rPr lang="es-BO" altLang="es-BO" b="1" dirty="0" err="1">
                <a:latin typeface="Arial" panose="020B0604020202020204" pitchFamily="34" charset="0"/>
              </a:rPr>
              <a:t>Segmentação</a:t>
            </a:r>
            <a:r>
              <a:rPr lang="es-BO" altLang="es-BO" b="1" dirty="0">
                <a:latin typeface="Arial" panose="020B0604020202020204" pitchFamily="34" charset="0"/>
              </a:rPr>
              <a:t> de </a:t>
            </a:r>
            <a:r>
              <a:rPr lang="es-BO" altLang="es-BO" b="1" dirty="0" err="1">
                <a:latin typeface="Arial" panose="020B0604020202020204" pitchFamily="34" charset="0"/>
              </a:rPr>
              <a:t>Instâncias</a:t>
            </a:r>
            <a:r>
              <a:rPr lang="es-BO" altLang="es-BO" b="1" dirty="0">
                <a:latin typeface="Arial" panose="020B0604020202020204" pitchFamily="34" charset="0"/>
              </a:rPr>
              <a:t>:</a:t>
            </a:r>
            <a:r>
              <a:rPr lang="es-BO" altLang="es-BO" dirty="0">
                <a:latin typeface="Arial" panose="020B0604020202020204" pitchFamily="34" charset="0"/>
              </a:rPr>
              <a:t> As </a:t>
            </a:r>
            <a:r>
              <a:rPr lang="es-BO" altLang="es-BO" dirty="0" err="1">
                <a:latin typeface="Arial" panose="020B0604020202020204" pitchFamily="34" charset="0"/>
              </a:rPr>
              <a:t>modificações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introduzidas</a:t>
            </a:r>
            <a:r>
              <a:rPr lang="es-BO" altLang="es-BO" dirty="0">
                <a:latin typeface="Arial" panose="020B0604020202020204" pitchFamily="34" charset="0"/>
              </a:rPr>
              <a:t> pelo </a:t>
            </a:r>
            <a:r>
              <a:rPr lang="es-BO" altLang="es-BO" dirty="0" err="1">
                <a:latin typeface="Arial" panose="020B0604020202020204" pitchFamily="34" charset="0"/>
              </a:rPr>
              <a:t>CvT</a:t>
            </a:r>
            <a:r>
              <a:rPr lang="es-BO" altLang="es-BO" dirty="0">
                <a:latin typeface="Arial" panose="020B0604020202020204" pitchFamily="34" charset="0"/>
              </a:rPr>
              <a:t> o </a:t>
            </a:r>
            <a:r>
              <a:rPr lang="es-BO" altLang="es-BO" dirty="0" err="1">
                <a:latin typeface="Arial" panose="020B0604020202020204" pitchFamily="34" charset="0"/>
              </a:rPr>
              <a:t>tornam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adequado</a:t>
            </a:r>
            <a:r>
              <a:rPr lang="es-BO" altLang="es-BO" dirty="0">
                <a:latin typeface="Arial" panose="020B0604020202020204" pitchFamily="34" charset="0"/>
              </a:rPr>
              <a:t> para tarefas de </a:t>
            </a:r>
            <a:r>
              <a:rPr lang="es-BO" altLang="es-BO" dirty="0" err="1">
                <a:latin typeface="Arial" panose="020B0604020202020204" pitchFamily="34" charset="0"/>
              </a:rPr>
              <a:t>previsão</a:t>
            </a:r>
            <a:r>
              <a:rPr lang="es-BO" altLang="es-BO" dirty="0">
                <a:latin typeface="Arial" panose="020B0604020202020204" pitchFamily="34" charset="0"/>
              </a:rPr>
              <a:t> densa. </a:t>
            </a:r>
            <a:r>
              <a:rPr lang="es-BO" altLang="es-BO" dirty="0" err="1">
                <a:latin typeface="Arial" panose="020B0604020202020204" pitchFamily="34" charset="0"/>
              </a:rPr>
              <a:t>Exemplos</a:t>
            </a:r>
            <a:r>
              <a:rPr lang="es-BO" altLang="es-BO" dirty="0">
                <a:latin typeface="Arial" panose="020B0604020202020204" pitchFamily="34" charset="0"/>
              </a:rPr>
              <a:t> de </a:t>
            </a:r>
            <a:r>
              <a:rPr lang="es-BO" altLang="es-BO" dirty="0" err="1">
                <a:latin typeface="Arial" panose="020B0604020202020204" pitchFamily="34" charset="0"/>
              </a:rPr>
              <a:t>outros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HVTs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já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mostraram</a:t>
            </a:r>
            <a:r>
              <a:rPr lang="es-BO" altLang="es-BO" dirty="0">
                <a:latin typeface="Arial" panose="020B0604020202020204" pitchFamily="34" charset="0"/>
              </a:rPr>
              <a:t> </a:t>
            </a:r>
            <a:r>
              <a:rPr lang="es-BO" altLang="es-BO" dirty="0" err="1">
                <a:latin typeface="Arial" panose="020B0604020202020204" pitchFamily="34" charset="0"/>
              </a:rPr>
              <a:t>sucesso</a:t>
            </a:r>
            <a:r>
              <a:rPr lang="es-BO" altLang="es-BO" dirty="0">
                <a:latin typeface="Arial" panose="020B0604020202020204" pitchFamily="34" charset="0"/>
              </a:rPr>
              <a:t> em </a:t>
            </a:r>
            <a:r>
              <a:rPr lang="es-BO" altLang="es-BO" dirty="0" err="1">
                <a:latin typeface="Arial" panose="020B0604020202020204" pitchFamily="34" charset="0"/>
              </a:rPr>
              <a:t>Mask</a:t>
            </a:r>
            <a:r>
              <a:rPr lang="es-BO" altLang="es-BO" dirty="0">
                <a:latin typeface="Arial" panose="020B0604020202020204" pitchFamily="34" charset="0"/>
              </a:rPr>
              <a:t> R-CNN e Cascade R-CNN.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F046-C07E-D400-F36F-34BB1A865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180C9-22FB-B5E1-9CB1-9E2D1FC9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440000" cy="792000"/>
          </a:xfrm>
        </p:spPr>
        <p:txBody>
          <a:bodyPr/>
          <a:lstStyle/>
          <a:p>
            <a:r>
              <a:rPr lang="pt-BR" dirty="0"/>
              <a:t>Vantagens e desvantagens</a:t>
            </a:r>
            <a:endParaRPr lang="pt-BR" noProof="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4E8C0E1-40FE-4191-DD4F-A571C9D11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26" r="61852"/>
          <a:stretch>
            <a:fillRect/>
          </a:stretch>
        </p:blipFill>
        <p:spPr bwMode="auto">
          <a:xfrm>
            <a:off x="260839" y="810254"/>
            <a:ext cx="4299438" cy="593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83FE444-1942-DEF6-CAED-94C2FD39D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52" t="21026"/>
          <a:stretch>
            <a:fillRect/>
          </a:stretch>
        </p:blipFill>
        <p:spPr bwMode="auto">
          <a:xfrm>
            <a:off x="6900494" y="720968"/>
            <a:ext cx="4299438" cy="593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877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9230-B07F-FF0A-EF23-41407C08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7599B94-4EF8-23F5-6569-570E38B9AFE2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4400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Validação e Refutação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BB55E678-BDA3-83D7-5D18-B2A14B45C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47" y="1300065"/>
            <a:ext cx="11836717" cy="553968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dirty="0"/>
              <a:t>O </a:t>
            </a:r>
            <a:r>
              <a:rPr lang="pt-BR" b="1" dirty="0" err="1">
                <a:solidFill>
                  <a:schemeClr val="accent6"/>
                </a:solidFill>
              </a:rPr>
              <a:t>Convolutional</a:t>
            </a:r>
            <a:r>
              <a:rPr lang="pt-BR" b="1" dirty="0">
                <a:solidFill>
                  <a:schemeClr val="accent6"/>
                </a:solidFill>
              </a:rPr>
              <a:t> Vision </a:t>
            </a:r>
            <a:r>
              <a:rPr lang="pt-BR" b="1" dirty="0" err="1">
                <a:solidFill>
                  <a:schemeClr val="accent6"/>
                </a:solidFill>
              </a:rPr>
              <a:t>Transformer</a:t>
            </a:r>
            <a:r>
              <a:rPr lang="pt-BR" b="1" dirty="0">
                <a:solidFill>
                  <a:schemeClr val="accent6"/>
                </a:solidFill>
              </a:rPr>
              <a:t> (</a:t>
            </a:r>
            <a:r>
              <a:rPr lang="pt-BR" b="1" dirty="0" err="1">
                <a:solidFill>
                  <a:schemeClr val="accent6"/>
                </a:solidFill>
              </a:rPr>
              <a:t>CvT</a:t>
            </a:r>
            <a:r>
              <a:rPr lang="pt-BR" b="1" dirty="0">
                <a:solidFill>
                  <a:schemeClr val="accent6"/>
                </a:solidFill>
              </a:rPr>
              <a:t>) </a:t>
            </a:r>
            <a:r>
              <a:rPr lang="pt-BR" dirty="0"/>
              <a:t>representa um avanço significativo no campo da visão computacional, unindo com sucesso as melhores características das Redes Neurais Convolucionais (</a:t>
            </a:r>
            <a:r>
              <a:rPr lang="pt-BR" dirty="0" err="1"/>
              <a:t>CNNs</a:t>
            </a:r>
            <a:r>
              <a:rPr lang="pt-BR" dirty="0"/>
              <a:t>) e dos Vision Transformers (</a:t>
            </a:r>
            <a:r>
              <a:rPr lang="pt-BR" dirty="0" err="1"/>
              <a:t>ViTs</a:t>
            </a:r>
            <a:r>
              <a:rPr lang="pt-BR" dirty="0"/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dirty="0"/>
              <a:t>Através do </a:t>
            </a:r>
            <a:r>
              <a:rPr lang="pt-BR" b="1" dirty="0" err="1">
                <a:solidFill>
                  <a:schemeClr val="accent2"/>
                </a:solidFill>
              </a:rPr>
              <a:t>Embedding</a:t>
            </a:r>
            <a:r>
              <a:rPr lang="pt-BR" b="1" dirty="0">
                <a:solidFill>
                  <a:schemeClr val="accent2"/>
                </a:solidFill>
              </a:rPr>
              <a:t> Convolucional de Tokens </a:t>
            </a:r>
            <a:r>
              <a:rPr lang="pt-BR" dirty="0"/>
              <a:t>e da Projeção Convolucional, o </a:t>
            </a:r>
            <a:r>
              <a:rPr lang="pt-BR" dirty="0" err="1"/>
              <a:t>CvT</a:t>
            </a:r>
            <a:r>
              <a:rPr lang="pt-BR" dirty="0"/>
              <a:t> incorpora o viés indutivo local das </a:t>
            </a:r>
            <a:r>
              <a:rPr lang="pt-BR" dirty="0" err="1"/>
              <a:t>CNNs</a:t>
            </a:r>
            <a:r>
              <a:rPr lang="pt-BR" dirty="0"/>
              <a:t>, mantendo a capacidade de modelagem de contexto global dos Transformers.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dirty="0"/>
              <a:t>Isso resulta em </a:t>
            </a:r>
            <a:r>
              <a:rPr lang="pt-BR" b="1" dirty="0">
                <a:solidFill>
                  <a:srgbClr val="7030A0"/>
                </a:solidFill>
              </a:rPr>
              <a:t>desempenho superior e maior eficiência</a:t>
            </a:r>
            <a:r>
              <a:rPr lang="pt-BR" dirty="0"/>
              <a:t>, com menos parâmetros e </a:t>
            </a:r>
            <a:r>
              <a:rPr lang="pt-BR" dirty="0" err="1"/>
              <a:t>FLOPs</a:t>
            </a:r>
            <a:r>
              <a:rPr lang="pt-BR" dirty="0"/>
              <a:t>, e a notável capacidade de dispensar </a:t>
            </a:r>
            <a:r>
              <a:rPr lang="pt-BR" dirty="0" err="1"/>
              <a:t>positional</a:t>
            </a:r>
            <a:r>
              <a:rPr lang="pt-BR" dirty="0"/>
              <a:t> </a:t>
            </a:r>
            <a:r>
              <a:rPr lang="pt-BR" dirty="0" err="1"/>
              <a:t>embeddings</a:t>
            </a:r>
            <a:r>
              <a:rPr lang="pt-BR" dirty="0"/>
              <a:t>, simplificando o design para tarefas de visão de resolução variável.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dirty="0"/>
              <a:t>O </a:t>
            </a:r>
            <a:r>
              <a:rPr lang="pt-BR" dirty="0" err="1"/>
              <a:t>CvT</a:t>
            </a:r>
            <a:r>
              <a:rPr lang="pt-BR" dirty="0"/>
              <a:t> é um </a:t>
            </a:r>
            <a:r>
              <a:rPr lang="pt-BR" b="1" dirty="0" err="1">
                <a:solidFill>
                  <a:schemeClr val="accent4"/>
                </a:solidFill>
              </a:rPr>
              <a:t>backbone</a:t>
            </a:r>
            <a:r>
              <a:rPr lang="pt-BR" b="1" dirty="0">
                <a:solidFill>
                  <a:schemeClr val="accent4"/>
                </a:solidFill>
              </a:rPr>
              <a:t> versátil </a:t>
            </a:r>
            <a:r>
              <a:rPr lang="pt-BR" dirty="0"/>
              <a:t>que pavimenta o caminho para o desenvolvimento de modelos de visão computacional mais robustos, eficientes e adaptáveis a um espectro ainda maior de aplicações práticas.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5572315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2719F-3FB1-F2E3-EAEF-A1675FC9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0CF6F-B555-3736-682B-F13C7FB4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8552EC7-195D-D7C6-C667-CC629F3EE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7950"/>
            <a:ext cx="12192000" cy="158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44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5C7D-A519-EBCC-2A19-2C33021F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BB1D5-BBC6-CBCA-9E36-68230B8E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506DE8-681E-1BC8-D18E-7D62711D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059"/>
            <a:ext cx="12192000" cy="586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66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606FA-0BA3-6FD0-0A15-C8F53174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4C5FB-8B9B-3D40-D398-9A4E7861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63D708-5E7C-8174-298C-450E6CAD9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73"/>
          <a:stretch>
            <a:fillRect/>
          </a:stretch>
        </p:blipFill>
        <p:spPr>
          <a:xfrm>
            <a:off x="4188452" y="1222743"/>
            <a:ext cx="7983064" cy="5357441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867167-08A0-ABC3-CCF4-C62797DCC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2" y="1137480"/>
            <a:ext cx="3848952" cy="5357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implementação do </a:t>
            </a:r>
            <a:r>
              <a:rPr lang="pt-BR" dirty="0" err="1"/>
              <a:t>CvT</a:t>
            </a:r>
            <a:r>
              <a:rPr lang="pt-BR" dirty="0"/>
              <a:t> está disponível no </a:t>
            </a:r>
            <a:r>
              <a:rPr lang="pt-BR" dirty="0">
                <a:hlinkClick r:id="rId4"/>
              </a:rPr>
              <a:t>GitHub</a:t>
            </a:r>
            <a:r>
              <a:rPr lang="pt-BR" dirty="0"/>
              <a:t>. </a:t>
            </a:r>
          </a:p>
          <a:p>
            <a:pPr marL="0" indent="0">
              <a:buNone/>
            </a:pPr>
            <a:r>
              <a:rPr lang="pt-BR" dirty="0"/>
              <a:t>Este subconjunto de cinco classes foi selecionado como foco da aplicação do modelo </a:t>
            </a:r>
            <a:r>
              <a:rPr lang="pt-BR" dirty="0" err="1"/>
              <a:t>Convolutional</a:t>
            </a:r>
            <a:r>
              <a:rPr lang="pt-BR" dirty="0"/>
              <a:t> </a:t>
            </a:r>
            <a:r>
              <a:rPr lang="pt-BR" dirty="0" err="1"/>
              <a:t>vision</a:t>
            </a:r>
            <a:r>
              <a:rPr lang="pt-BR" dirty="0"/>
              <a:t> </a:t>
            </a:r>
            <a:r>
              <a:rPr lang="pt-BR" dirty="0" err="1"/>
              <a:t>Transformer</a:t>
            </a:r>
            <a:r>
              <a:rPr lang="pt-BR" dirty="0"/>
              <a:t> (</a:t>
            </a:r>
            <a:r>
              <a:rPr lang="pt-BR" dirty="0" err="1"/>
              <a:t>CvT</a:t>
            </a:r>
            <a:r>
              <a:rPr lang="pt-BR" dirty="0"/>
              <a:t>) para classificação e estudo .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41279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5D431-5B1C-D2C1-9F4B-8F34D541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C896A-95A3-103F-8E42-CF1AFC64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3C3A3A-95FF-AB52-FCF6-BC460FA83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18"/>
          <a:stretch>
            <a:fillRect/>
          </a:stretch>
        </p:blipFill>
        <p:spPr>
          <a:xfrm>
            <a:off x="4919009" y="1192227"/>
            <a:ext cx="7021354" cy="567410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CB6999B-A89E-0E3B-C733-1E6441701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0" y="1376893"/>
            <a:ext cx="489390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Figura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apresenta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imagens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BO" altLang="es-B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cinco grupos de </a:t>
            </a:r>
            <a:r>
              <a:rPr kumimoji="0" lang="es-BO" altLang="es-B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galáxias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selecionadas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s-BO" altLang="es-B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BO" altLang="es-B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Galaxy Zoo CANDELS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conjunto de dados utilizado para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estender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os experimentos para a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classificação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galáxias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BO" altLang="es-B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alto </a:t>
            </a:r>
            <a:r>
              <a:rPr kumimoji="0" lang="es-BO" altLang="es-BO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redshift</a:t>
            </a:r>
            <a:r>
              <a:rPr kumimoji="0" lang="es-BO" altLang="es-BO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seleção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destes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grupos teve como objetivo verificar a </a:t>
            </a:r>
            <a:r>
              <a:rPr kumimoji="0" lang="es-BO" altLang="es-B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eficácia</a:t>
            </a:r>
            <a:r>
              <a:rPr kumimoji="0" lang="es-BO" altLang="es-B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modelo </a:t>
            </a:r>
            <a:r>
              <a:rPr kumimoji="0" lang="es-BO" altLang="es-B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CvT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classificação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imagens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alto </a:t>
            </a:r>
            <a:r>
              <a:rPr kumimoji="0" lang="es-BO" altLang="es-BO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redshift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inclui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diversas características morfológicas e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estágios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BO" altLang="es-B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desenvolvimento</a:t>
            </a:r>
            <a:r>
              <a:rPr kumimoji="0" lang="es-BO" altLang="es-B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497799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2A7A-D280-6013-941F-9A334DED0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66F21-1D9C-BBBC-65C9-6EEEAAAE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448F66-9664-CB39-52E3-D86DB3EAA8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18"/>
          <a:stretch>
            <a:fillRect/>
          </a:stretch>
        </p:blipFill>
        <p:spPr>
          <a:xfrm>
            <a:off x="4919009" y="1192227"/>
            <a:ext cx="7021354" cy="567410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7414E2B-0549-7BB8-7FD2-CED9A90C3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0" y="1176977"/>
            <a:ext cx="489390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BO" altLang="es-BO" sz="2000" dirty="0">
                <a:latin typeface="Arial" panose="020B0604020202020204" pitchFamily="34" charset="0"/>
              </a:rPr>
              <a:t>• </a:t>
            </a:r>
            <a:r>
              <a:rPr lang="es-BO" altLang="es-BO" sz="2000" b="1" dirty="0">
                <a:latin typeface="Arial" panose="020B0604020202020204" pitchFamily="34" charset="0"/>
              </a:rPr>
              <a:t>Grupo 6: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Galáxias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>
                <a:latin typeface="Arial" panose="020B0604020202020204" pitchFamily="34" charset="0"/>
              </a:rPr>
              <a:t>elípticas</a:t>
            </a:r>
            <a:r>
              <a:rPr lang="es-BO" altLang="es-BO" sz="2000" dirty="0">
                <a:latin typeface="Arial" panose="020B0604020202020204" pitchFamily="34" charset="0"/>
              </a:rPr>
              <a:t> (</a:t>
            </a:r>
            <a:r>
              <a:rPr lang="es-BO" altLang="es-BO" sz="2000" dirty="0" err="1">
                <a:latin typeface="Arial" panose="020B0604020202020204" pitchFamily="34" charset="0"/>
              </a:rPr>
              <a:t>sem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braços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espirais</a:t>
            </a:r>
            <a:r>
              <a:rPr lang="es-BO" altLang="es-BO" sz="2000" dirty="0">
                <a:latin typeface="Arial" panose="020B0604020202020204" pitchFamily="34" charset="0"/>
              </a:rPr>
              <a:t>), </a:t>
            </a:r>
            <a:r>
              <a:rPr lang="es-BO" altLang="es-BO" sz="2000" dirty="0" err="1">
                <a:latin typeface="Arial" panose="020B0604020202020204" pitchFamily="34" charset="0"/>
              </a:rPr>
              <a:t>com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coloração</a:t>
            </a:r>
            <a:r>
              <a:rPr lang="es-BO" altLang="es-BO" sz="2000" dirty="0">
                <a:latin typeface="Arial" panose="020B0604020202020204" pitchFamily="34" charset="0"/>
              </a:rPr>
              <a:t> que varia do </a:t>
            </a:r>
            <a:r>
              <a:rPr lang="es-BO" altLang="es-BO" sz="2000" dirty="0" err="1">
                <a:latin typeface="Arial" panose="020B0604020202020204" pitchFamily="34" charset="0"/>
              </a:rPr>
              <a:t>amarelo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ao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branco-amarelado</a:t>
            </a:r>
            <a:r>
              <a:rPr lang="es-BO" altLang="es-BO" sz="2000" dirty="0">
                <a:latin typeface="Arial" panose="020B0604020202020204" pitchFamily="34" charset="0"/>
              </a:rPr>
              <a:t> pálido, indicando </a:t>
            </a:r>
            <a:r>
              <a:rPr lang="es-BO" altLang="es-BO" sz="2000" b="1" dirty="0" err="1">
                <a:latin typeface="Arial" panose="020B0604020202020204" pitchFamily="34" charset="0"/>
              </a:rPr>
              <a:t>antiguidade</a:t>
            </a:r>
            <a:r>
              <a:rPr lang="es-BO" altLang="es-BO" sz="2000" b="1" dirty="0">
                <a:latin typeface="Arial" panose="020B0604020202020204" pitchFamily="34" charset="0"/>
              </a:rPr>
              <a:t> galáctica</a:t>
            </a:r>
            <a:r>
              <a:rPr lang="es-BO" altLang="es-BO" sz="2000" dirty="0">
                <a:latin typeface="Arial" panose="020B0604020202020204" pitchFamily="34" charset="0"/>
              </a:rPr>
              <a:t> (tipo inicial).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BO" altLang="es-BO" sz="2000" dirty="0">
                <a:latin typeface="Arial" panose="020B0604020202020204" pitchFamily="34" charset="0"/>
              </a:rPr>
              <a:t>• </a:t>
            </a:r>
            <a:r>
              <a:rPr lang="es-BO" altLang="es-BO" sz="2000" b="1" dirty="0">
                <a:latin typeface="Arial" panose="020B0604020202020204" pitchFamily="34" charset="0"/>
              </a:rPr>
              <a:t>Grupo 8: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Galáxias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 err="1">
                <a:latin typeface="Arial" panose="020B0604020202020204" pitchFamily="34" charset="0"/>
              </a:rPr>
              <a:t>espirais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com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cores</a:t>
            </a:r>
            <a:r>
              <a:rPr lang="es-BO" altLang="es-BO" sz="2000" dirty="0">
                <a:latin typeface="Arial" panose="020B0604020202020204" pitchFamily="34" charset="0"/>
              </a:rPr>
              <a:t> em </a:t>
            </a:r>
            <a:r>
              <a:rPr lang="es-BO" altLang="es-BO" sz="2000" dirty="0" err="1">
                <a:latin typeface="Arial" panose="020B0604020202020204" pitchFamily="34" charset="0"/>
              </a:rPr>
              <a:t>tons</a:t>
            </a:r>
            <a:r>
              <a:rPr lang="es-BO" altLang="es-BO" sz="2000" dirty="0">
                <a:latin typeface="Arial" panose="020B0604020202020204" pitchFamily="34" charset="0"/>
              </a:rPr>
              <a:t> de </a:t>
            </a:r>
            <a:r>
              <a:rPr lang="es-BO" altLang="es-BO" sz="2000" b="1" dirty="0">
                <a:latin typeface="Arial" panose="020B0604020202020204" pitchFamily="34" charset="0"/>
              </a:rPr>
              <a:t>azul</a:t>
            </a:r>
            <a:r>
              <a:rPr lang="es-BO" altLang="es-BO" sz="2000" dirty="0">
                <a:latin typeface="Arial" panose="020B0604020202020204" pitchFamily="34" charset="0"/>
              </a:rPr>
              <a:t>, </a:t>
            </a:r>
            <a:r>
              <a:rPr lang="es-BO" altLang="es-BO" sz="2000" dirty="0" err="1">
                <a:latin typeface="Arial" panose="020B0604020202020204" pitchFamily="34" charset="0"/>
              </a:rPr>
              <a:t>sinalizando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 err="1">
                <a:latin typeface="Arial" panose="020B0604020202020204" pitchFamily="34" charset="0"/>
              </a:rPr>
              <a:t>formações</a:t>
            </a:r>
            <a:r>
              <a:rPr lang="es-BO" altLang="es-BO" sz="2000" b="1" dirty="0">
                <a:latin typeface="Arial" panose="020B0604020202020204" pitchFamily="34" charset="0"/>
              </a:rPr>
              <a:t> galácticas </a:t>
            </a:r>
            <a:r>
              <a:rPr lang="es-BO" altLang="es-BO" sz="2000" b="1" dirty="0" err="1">
                <a:latin typeface="Arial" panose="020B0604020202020204" pitchFamily="34" charset="0"/>
              </a:rPr>
              <a:t>mais</a:t>
            </a:r>
            <a:r>
              <a:rPr lang="es-BO" altLang="es-BO" sz="2000" b="1" dirty="0">
                <a:latin typeface="Arial" panose="020B0604020202020204" pitchFamily="34" charset="0"/>
              </a:rPr>
              <a:t> </a:t>
            </a:r>
            <a:r>
              <a:rPr lang="es-BO" altLang="es-BO" sz="2000" b="1" dirty="0" err="1">
                <a:latin typeface="Arial" panose="020B0604020202020204" pitchFamily="34" charset="0"/>
              </a:rPr>
              <a:t>jovens</a:t>
            </a:r>
            <a:r>
              <a:rPr lang="es-BO" altLang="es-BO" sz="2000" dirty="0">
                <a:latin typeface="Arial" panose="020B0604020202020204" pitchFamily="34" charset="0"/>
              </a:rPr>
              <a:t> (tipo </a:t>
            </a:r>
            <a:r>
              <a:rPr lang="es-BO" altLang="es-BO" sz="2000" dirty="0" err="1">
                <a:latin typeface="Arial" panose="020B0604020202020204" pitchFamily="34" charset="0"/>
              </a:rPr>
              <a:t>tardio</a:t>
            </a:r>
            <a:r>
              <a:rPr lang="es-BO" altLang="es-BO" sz="2000" dirty="0">
                <a:latin typeface="Arial" panose="020B0604020202020204" pitchFamily="34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BO" altLang="es-BO" sz="2000" dirty="0">
                <a:latin typeface="Arial" panose="020B0604020202020204" pitchFamily="34" charset="0"/>
              </a:rPr>
              <a:t>• </a:t>
            </a:r>
            <a:r>
              <a:rPr lang="es-BO" altLang="es-BO" sz="2000" b="1" dirty="0">
                <a:latin typeface="Arial" panose="020B0604020202020204" pitchFamily="34" charset="0"/>
              </a:rPr>
              <a:t>Grupo 11: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Galáxias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 err="1">
                <a:latin typeface="Arial" panose="020B0604020202020204" pitchFamily="34" charset="0"/>
              </a:rPr>
              <a:t>espirais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com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braços</a:t>
            </a:r>
            <a:r>
              <a:rPr lang="es-BO" altLang="es-BO" sz="2000" dirty="0">
                <a:latin typeface="Arial" panose="020B0604020202020204" pitchFamily="34" charset="0"/>
              </a:rPr>
              <a:t> acentuados, mas </a:t>
            </a:r>
            <a:r>
              <a:rPr lang="es-BO" altLang="es-BO" sz="2000" dirty="0" err="1">
                <a:latin typeface="Arial" panose="020B0604020202020204" pitchFamily="34" charset="0"/>
              </a:rPr>
              <a:t>com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uma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>
                <a:latin typeface="Arial" panose="020B0604020202020204" pitchFamily="34" charset="0"/>
              </a:rPr>
              <a:t>paleta </a:t>
            </a:r>
            <a:r>
              <a:rPr lang="es-BO" altLang="es-BO" sz="2000" b="1" dirty="0" err="1">
                <a:latin typeface="Arial" panose="020B0604020202020204" pitchFamily="34" charset="0"/>
              </a:rPr>
              <a:t>avermelhada</a:t>
            </a:r>
            <a:r>
              <a:rPr lang="es-BO" altLang="es-BO" sz="2000" dirty="0">
                <a:latin typeface="Arial" panose="020B0604020202020204" pitchFamily="34" charset="0"/>
              </a:rPr>
              <a:t> que </a:t>
            </a:r>
            <a:r>
              <a:rPr lang="es-BO" altLang="es-BO" sz="2000" dirty="0" err="1">
                <a:latin typeface="Arial" panose="020B0604020202020204" pitchFamily="34" charset="0"/>
              </a:rPr>
              <a:t>sugere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>
                <a:latin typeface="Arial" panose="020B0604020202020204" pitchFamily="34" charset="0"/>
              </a:rPr>
              <a:t>formas galácticas </a:t>
            </a:r>
            <a:r>
              <a:rPr lang="es-BO" altLang="es-BO" sz="2000" b="1" dirty="0" err="1">
                <a:latin typeface="Arial" panose="020B0604020202020204" pitchFamily="34" charset="0"/>
              </a:rPr>
              <a:t>mais</a:t>
            </a:r>
            <a:r>
              <a:rPr lang="es-BO" altLang="es-BO" sz="2000" b="1" dirty="0">
                <a:latin typeface="Arial" panose="020B0604020202020204" pitchFamily="34" charset="0"/>
              </a:rPr>
              <a:t> </a:t>
            </a:r>
            <a:r>
              <a:rPr lang="es-BO" altLang="es-BO" sz="2000" b="1" dirty="0" err="1">
                <a:latin typeface="Arial" panose="020B0604020202020204" pitchFamily="34" charset="0"/>
              </a:rPr>
              <a:t>antigas</a:t>
            </a:r>
            <a:r>
              <a:rPr lang="es-BO" altLang="es-BO" sz="2000" dirty="0">
                <a:latin typeface="Arial" panose="020B0604020202020204" pitchFamily="34" charset="0"/>
              </a:rPr>
              <a:t> (tipo inicial).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BO" altLang="es-BO" sz="2000" dirty="0">
                <a:latin typeface="Arial" panose="020B0604020202020204" pitchFamily="34" charset="0"/>
              </a:rPr>
              <a:t>• </a:t>
            </a:r>
            <a:r>
              <a:rPr lang="es-BO" altLang="es-BO" sz="2000" b="1" dirty="0">
                <a:latin typeface="Arial" panose="020B0604020202020204" pitchFamily="34" charset="0"/>
              </a:rPr>
              <a:t>Grupo 16: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Galáxias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>
                <a:latin typeface="Arial" panose="020B0604020202020204" pitchFamily="34" charset="0"/>
              </a:rPr>
              <a:t>irregulares</a:t>
            </a:r>
            <a:r>
              <a:rPr lang="es-BO" altLang="es-BO" sz="2000" dirty="0">
                <a:latin typeface="Arial" panose="020B0604020202020204" pitchFamily="34" charset="0"/>
              </a:rPr>
              <a:t> de </a:t>
            </a:r>
            <a:r>
              <a:rPr lang="es-BO" altLang="es-BO" sz="2000" dirty="0" err="1">
                <a:latin typeface="Arial" panose="020B0604020202020204" pitchFamily="34" charset="0"/>
              </a:rPr>
              <a:t>coloração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>
                <a:latin typeface="Arial" panose="020B0604020202020204" pitchFamily="34" charset="0"/>
              </a:rPr>
              <a:t>azul</a:t>
            </a:r>
            <a:r>
              <a:rPr lang="es-BO" altLang="es-BO" sz="2000" dirty="0">
                <a:latin typeface="Arial" panose="020B0604020202020204" pitchFamily="34" charset="0"/>
              </a:rPr>
              <a:t>, denotando </a:t>
            </a:r>
            <a:r>
              <a:rPr lang="es-BO" altLang="es-BO" sz="2000" b="1" dirty="0" err="1">
                <a:latin typeface="Arial" panose="020B0604020202020204" pitchFamily="34" charset="0"/>
              </a:rPr>
              <a:t>formação</a:t>
            </a:r>
            <a:r>
              <a:rPr lang="es-BO" altLang="es-BO" sz="2000" b="1" dirty="0">
                <a:latin typeface="Arial" panose="020B0604020202020204" pitchFamily="34" charset="0"/>
              </a:rPr>
              <a:t> estelar </a:t>
            </a:r>
            <a:r>
              <a:rPr lang="es-BO" altLang="es-BO" sz="2000" b="1" dirty="0" err="1">
                <a:latin typeface="Arial" panose="020B0604020202020204" pitchFamily="34" charset="0"/>
              </a:rPr>
              <a:t>ativa</a:t>
            </a:r>
            <a:r>
              <a:rPr lang="es-BO" altLang="es-BO" sz="2000" dirty="0">
                <a:latin typeface="Arial" panose="020B0604020202020204" pitchFamily="34" charset="0"/>
              </a:rPr>
              <a:t> (tipo </a:t>
            </a:r>
            <a:r>
              <a:rPr lang="es-BO" altLang="es-BO" sz="2000" dirty="0" err="1">
                <a:latin typeface="Arial" panose="020B0604020202020204" pitchFamily="34" charset="0"/>
              </a:rPr>
              <a:t>tardio</a:t>
            </a:r>
            <a:r>
              <a:rPr lang="es-BO" altLang="es-BO" sz="2000" dirty="0">
                <a:latin typeface="Arial" panose="020B0604020202020204" pitchFamily="34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BO" altLang="es-BO" sz="2000" dirty="0">
                <a:latin typeface="Arial" panose="020B0604020202020204" pitchFamily="34" charset="0"/>
              </a:rPr>
              <a:t>• </a:t>
            </a:r>
            <a:r>
              <a:rPr lang="es-BO" altLang="es-BO" sz="2000" b="1" dirty="0">
                <a:latin typeface="Arial" panose="020B0604020202020204" pitchFamily="34" charset="0"/>
              </a:rPr>
              <a:t>Grupo 45: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Galáxias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>
                <a:latin typeface="Arial" panose="020B0604020202020204" pitchFamily="34" charset="0"/>
              </a:rPr>
              <a:t>irregulares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com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dirty="0" err="1">
                <a:latin typeface="Arial" panose="020B0604020202020204" pitchFamily="34" charset="0"/>
              </a:rPr>
              <a:t>um</a:t>
            </a:r>
            <a:r>
              <a:rPr lang="es-BO" altLang="es-BO" sz="2000" dirty="0">
                <a:latin typeface="Arial" panose="020B0604020202020204" pitchFamily="34" charset="0"/>
              </a:rPr>
              <a:t> </a:t>
            </a:r>
            <a:r>
              <a:rPr lang="es-BO" altLang="es-BO" sz="2000" b="1" dirty="0" err="1">
                <a:latin typeface="Arial" panose="020B0604020202020204" pitchFamily="34" charset="0"/>
              </a:rPr>
              <a:t>tom</a:t>
            </a:r>
            <a:r>
              <a:rPr lang="es-BO" altLang="es-BO" sz="2000" b="1" dirty="0">
                <a:latin typeface="Arial" panose="020B0604020202020204" pitchFamily="34" charset="0"/>
              </a:rPr>
              <a:t> </a:t>
            </a:r>
            <a:r>
              <a:rPr lang="es-BO" altLang="es-BO" sz="2000" b="1" dirty="0" err="1">
                <a:latin typeface="Arial" panose="020B0604020202020204" pitchFamily="34" charset="0"/>
              </a:rPr>
              <a:t>avermelhado</a:t>
            </a:r>
            <a:r>
              <a:rPr lang="es-BO" altLang="es-BO" sz="2000" dirty="0">
                <a:latin typeface="Arial" panose="020B0604020202020204" pitchFamily="34" charset="0"/>
              </a:rPr>
              <a:t>, </a:t>
            </a:r>
            <a:r>
              <a:rPr lang="es-BO" altLang="es-BO" sz="2000" dirty="0" err="1">
                <a:latin typeface="Arial" panose="020B0604020202020204" pitchFamily="34" charset="0"/>
              </a:rPr>
              <a:t>classificadas</a:t>
            </a:r>
            <a:r>
              <a:rPr lang="es-BO" altLang="es-BO" sz="2000" dirty="0">
                <a:latin typeface="Arial" panose="020B0604020202020204" pitchFamily="34" charset="0"/>
              </a:rPr>
              <a:t> como </a:t>
            </a:r>
            <a:r>
              <a:rPr lang="es-BO" altLang="es-BO" sz="2000" dirty="0" err="1">
                <a:latin typeface="Arial" panose="020B0604020202020204" pitchFamily="34" charset="0"/>
              </a:rPr>
              <a:t>galáxias</a:t>
            </a:r>
            <a:r>
              <a:rPr lang="es-BO" altLang="es-BO" sz="2000" dirty="0">
                <a:latin typeface="Arial" panose="020B0604020202020204" pitchFamily="34" charset="0"/>
              </a:rPr>
              <a:t> de </a:t>
            </a:r>
            <a:r>
              <a:rPr lang="es-BO" altLang="es-BO" sz="2000" b="1" dirty="0">
                <a:latin typeface="Arial" panose="020B0604020202020204" pitchFamily="34" charset="0"/>
              </a:rPr>
              <a:t>tipo inicial</a:t>
            </a:r>
            <a:r>
              <a:rPr lang="es-BO" altLang="es-BO" sz="20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BO" altLang="es-B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920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2588-602B-4C49-872C-304DC28F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F045F-2898-C822-DEFA-D66C83A4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A252F2-0A92-395D-E226-E8C5C5026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2348"/>
            <a:ext cx="12192000" cy="427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74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78B1-AEB1-B54E-51AB-00280AE0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E8658-7A96-BBA4-4EC9-4C26FAF1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BA19BE-51D4-6B1D-766F-75FF8C940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00" y="0"/>
            <a:ext cx="653415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E8C894F-BE6A-AB82-4AF0-731B342A7689}"/>
              </a:ext>
            </a:extLst>
          </p:cNvPr>
          <p:cNvSpPr txBox="1"/>
          <p:nvPr/>
        </p:nvSpPr>
        <p:spPr>
          <a:xfrm>
            <a:off x="0" y="2474180"/>
            <a:ext cx="4489938" cy="3469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resultado principal demonstrado na Figura 10 é que os clusters de várias galáxias possuem limites claros e distintos, o que sugere que o modelo </a:t>
            </a:r>
            <a:r>
              <a:rPr lang="pt-BR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CvT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alcança um bom desempenho na classificação da morfologia galáctica.</a:t>
            </a:r>
            <a:endParaRPr lang="es-BO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27D3FF7-C228-3283-5E36-2CBC16D5FC30}"/>
              </a:ext>
            </a:extLst>
          </p:cNvPr>
          <p:cNvSpPr txBox="1"/>
          <p:nvPr/>
        </p:nvSpPr>
        <p:spPr>
          <a:xfrm>
            <a:off x="0" y="792000"/>
            <a:ext cx="62190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6"/>
                </a:solidFill>
                <a:latin typeface="Google Sans Text"/>
              </a:rPr>
              <a:t>V</a:t>
            </a:r>
            <a:r>
              <a:rPr lang="pt-BR" sz="2400" b="1" i="0" dirty="0">
                <a:solidFill>
                  <a:schemeClr val="accent6"/>
                </a:solidFill>
                <a:effectLst/>
                <a:latin typeface="Google Sans Text"/>
              </a:rPr>
              <a:t>isualização dos resultados da classificação morfológica de galáxias obtidos pelo modelo </a:t>
            </a:r>
            <a:r>
              <a:rPr lang="pt-BR" sz="2400" b="1" i="0" dirty="0" err="1">
                <a:solidFill>
                  <a:schemeClr val="accent6"/>
                </a:solidFill>
                <a:effectLst/>
                <a:latin typeface="Google Sans Text"/>
              </a:rPr>
              <a:t>CvT</a:t>
            </a:r>
            <a:endParaRPr lang="es-BO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426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DB6D4-5F92-2DD3-E5BA-6F9B5ACC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7EAF0-264B-B170-A808-9C3072B4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40000" cy="792000"/>
          </a:xfrm>
        </p:spPr>
        <p:txBody>
          <a:bodyPr/>
          <a:lstStyle/>
          <a:p>
            <a:r>
              <a:rPr lang="pt-BR" dirty="0"/>
              <a:t>APLICAÇÃO</a:t>
            </a:r>
            <a:endParaRPr lang="pt-BR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D6663B-7306-8FED-9783-6107D5044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1" y="1991656"/>
            <a:ext cx="12098438" cy="24292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DFEA1A-DD9D-6737-EF7D-9FE6AA87A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319" y="4705050"/>
            <a:ext cx="745911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0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A369-C25E-3D78-EF2F-5D703D60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B6D7385-D7AA-7498-97BA-E2BF4A748EC3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4400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QUIZ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519EC8-8609-A9A6-E34C-08198B7B9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B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45EB5F-5140-5244-5B56-2CBDCE7A5EF5}"/>
              </a:ext>
            </a:extLst>
          </p:cNvPr>
          <p:cNvSpPr txBox="1"/>
          <p:nvPr/>
        </p:nvSpPr>
        <p:spPr>
          <a:xfrm>
            <a:off x="79309" y="5889562"/>
            <a:ext cx="622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QUIZ SEMINARIO</a:t>
            </a:r>
            <a:endParaRPr lang="es-BO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04A0604-F257-81C3-9919-4D45ADEA34F7}"/>
              </a:ext>
            </a:extLst>
          </p:cNvPr>
          <p:cNvSpPr txBox="1">
            <a:spLocks/>
          </p:cNvSpPr>
          <p:nvPr/>
        </p:nvSpPr>
        <p:spPr>
          <a:xfrm>
            <a:off x="10084599" y="5678228"/>
            <a:ext cx="2028092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hlinkClick r:id="rId3"/>
              </a:rPr>
              <a:t>GITHUB</a:t>
            </a:r>
            <a:endParaRPr lang="pt-BR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F7DA0-22EC-C77F-21A6-F89247CB2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751" y="504092"/>
            <a:ext cx="5498757" cy="507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75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28B001B-C86A-1515-5CFB-96F462A4A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7" y="575864"/>
            <a:ext cx="10574226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noProof="0" dirty="0"/>
              <a:t>Obrigado!</a:t>
            </a:r>
            <a:endParaRPr lang="pt-BR" sz="6600" b="1" i="1" noProof="0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22839</TotalTime>
  <Words>3047</Words>
  <Application>Microsoft Office PowerPoint</Application>
  <PresentationFormat>Panorámica</PresentationFormat>
  <Paragraphs>206</Paragraphs>
  <Slides>36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Cambria Math</vt:lpstr>
      <vt:lpstr>Google Sans Text</vt:lpstr>
      <vt:lpstr>Tema do Office</vt:lpstr>
      <vt:lpstr>TP558 - Tópicos avançados em Machine Learning: Convolutional Vision Transformer (CvT)</vt:lpstr>
      <vt:lpstr>Introdução</vt:lpstr>
      <vt:lpstr>Introdução</vt:lpstr>
      <vt:lpstr>Introdução</vt:lpstr>
      <vt:lpstr>Introdução</vt:lpstr>
      <vt:lpstr>Introdução</vt:lpstr>
      <vt:lpstr>Arquitetura e funcionamento</vt:lpstr>
      <vt:lpstr>Arquitetura e funcionamento</vt:lpstr>
      <vt:lpstr>Arquitetura e funcionamento</vt:lpstr>
      <vt:lpstr>Arquitetura e funcionamento</vt:lpstr>
      <vt:lpstr>Arquitetura e funcionamento</vt:lpstr>
      <vt:lpstr>Arquitetura e funcionamento</vt:lpstr>
      <vt:lpstr>Arquitetura e funcionamento</vt:lpstr>
      <vt:lpstr>Arquitetura e funcionamento</vt:lpstr>
      <vt:lpstr>Arquitetura e funcionamento</vt:lpstr>
      <vt:lpstr>Arquitetura e funcionamento</vt:lpstr>
      <vt:lpstr>RESULTADOS</vt:lpstr>
      <vt:lpstr>RESULTADOS</vt:lpstr>
      <vt:lpstr>RESULTADOS</vt:lpstr>
      <vt:lpstr>RESULTADOS</vt:lpstr>
      <vt:lpstr>Comparativo: CvT vs. Outras Arquiteturas Híbridas</vt:lpstr>
      <vt:lpstr>RESULTADOS</vt:lpstr>
      <vt:lpstr>Exemplo(s) de aplicação</vt:lpstr>
      <vt:lpstr>Vantagens e desvantagens</vt:lpstr>
      <vt:lpstr>Presentación de PowerPoint</vt:lpstr>
      <vt:lpstr>APLICAÇÃO</vt:lpstr>
      <vt:lpstr>APLICAÇÃO</vt:lpstr>
      <vt:lpstr>APLICAÇÃO</vt:lpstr>
      <vt:lpstr>APLICAÇÃO</vt:lpstr>
      <vt:lpstr>APLICAÇÃO</vt:lpstr>
      <vt:lpstr>APLICAÇÃO</vt:lpstr>
      <vt:lpstr>APLICAÇÃO</vt:lpstr>
      <vt:lpstr>APLICAÇÃO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Luis Enrique Cardozo Ramirez</cp:lastModifiedBy>
  <cp:revision>1787</cp:revision>
  <dcterms:created xsi:type="dcterms:W3CDTF">2020-01-20T13:50:05Z</dcterms:created>
  <dcterms:modified xsi:type="dcterms:W3CDTF">2025-10-18T18:01:18Z</dcterms:modified>
</cp:coreProperties>
</file>